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4075ba3-c965-c018-860e-c37c3db8856c}">
          <p14:sldIdLst>
            <p14:sldId id="256"/>
            <p14:sldId id="257"/>
            <p14:sldId id="258"/>
          </p14:sldIdLst>
        </p14:section>
        <p14:section name="Data" id="{1ce49fca-71af-a464-2498-44dfe3c1ce32}">
          <p14:sldIdLst>
            <p14:sldId id="259"/>
            <p14:sldId id="260"/>
          </p14:sldIdLst>
        </p14:section>
        <p14:section name="Analysis" id="{7b3ff5cd-25ab-51d3-ec5e-1547f4258605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ashboard &amp; Insights" id="{36469e52-a0e5-1444-8442-455cb8fcb867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accidents</c:v>
                </c:pt>
              </c:strCache>
            </c:strRef>
          </c:tx>
          <c:spPr>
            <a:solidFill>
              <a:srgbClr val="2DD4BF"/>
            </a:solidFill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1998</c:v>
                  </c:pt>
                  <c:pt idx="1">
                    <c:v>1999</c:v>
                  </c:pt>
                  <c:pt idx="2">
                    <c:v>2000</c:v>
                  </c:pt>
                  <c:pt idx="3">
                    <c:v>2001</c:v>
                  </c:pt>
                  <c:pt idx="4">
                    <c:v>2002</c:v>
                  </c:pt>
                  <c:pt idx="5">
                    <c:v>2003</c:v>
                  </c:pt>
                  <c:pt idx="6">
                    <c:v>2004</c:v>
                  </c:pt>
                  <c:pt idx="7">
                    <c:v>2005</c:v>
                  </c:pt>
                  <c:pt idx="8">
                    <c:v>2006</c:v>
                  </c:pt>
                  <c:pt idx="9">
                    <c:v>2007</c:v>
                  </c:pt>
                  <c:pt idx="10">
                    <c:v>2008</c:v>
                  </c:pt>
                  <c:pt idx="11">
                    <c:v>2009</c:v>
                  </c:pt>
                  <c:pt idx="12">
                    <c:v>2010</c:v>
                  </c:pt>
                  <c:pt idx="13">
                    <c:v>2011</c:v>
                  </c:pt>
                  <c:pt idx="14">
                    <c:v>2012</c:v>
                  </c:pt>
                  <c:pt idx="15">
                    <c:v>2013</c:v>
                  </c:pt>
                  <c:pt idx="16">
                    <c:v>2014</c:v>
                  </c:pt>
                  <c:pt idx="17">
                    <c:v>2015</c:v>
                  </c:pt>
                  <c:pt idx="18">
                    <c:v>2016</c:v>
                  </c:pt>
                  <c:pt idx="19">
                    <c:v>2017</c:v>
                  </c:pt>
                  <c:pt idx="20">
                    <c:v>2018</c:v>
                  </c:pt>
                  <c:pt idx="21">
                    <c:v>2019</c:v>
                  </c:pt>
                  <c:pt idx="22">
                    <c:v>2020</c:v>
                  </c:pt>
                  <c:pt idx="23">
                    <c:v>2021</c:v>
                  </c:pt>
                  <c:pt idx="24">
                    <c:v>2022</c:v>
                  </c:pt>
                  <c:pt idx="25">
                    <c:v>2023</c:v>
                  </c:pt>
                  <c:pt idx="26">
                    <c:v>2024</c:v>
                  </c:pt>
                  <c:pt idx="27">
                    <c:v>2025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5203</c:v>
                </c:pt>
                <c:pt idx="1">
                  <c:v>4644</c:v>
                </c:pt>
                <c:pt idx="2">
                  <c:v>5166</c:v>
                </c:pt>
                <c:pt idx="3">
                  <c:v>5242</c:v>
                </c:pt>
                <c:pt idx="4">
                  <c:v>3635</c:v>
                </c:pt>
                <c:pt idx="5">
                  <c:v>4202</c:v>
                </c:pt>
                <c:pt idx="6">
                  <c:v>4873</c:v>
                </c:pt>
                <c:pt idx="7">
                  <c:v>4896</c:v>
                </c:pt>
                <c:pt idx="8">
                  <c:v>5817</c:v>
                </c:pt>
                <c:pt idx="9">
                  <c:v>7570</c:v>
                </c:pt>
                <c:pt idx="10">
                  <c:v>6823</c:v>
                </c:pt>
                <c:pt idx="11">
                  <c:v>5060</c:v>
                </c:pt>
                <c:pt idx="12">
                  <c:v>5133</c:v>
                </c:pt>
                <c:pt idx="13">
                  <c:v>6566</c:v>
                </c:pt>
                <c:pt idx="14">
                  <c:v>9663</c:v>
                </c:pt>
                <c:pt idx="15">
                  <c:v>9710</c:v>
                </c:pt>
                <c:pt idx="16">
                  <c:v>9465</c:v>
                </c:pt>
                <c:pt idx="17">
                  <c:v>7328</c:v>
                </c:pt>
                <c:pt idx="18">
                  <c:v>7486</c:v>
                </c:pt>
                <c:pt idx="19">
                  <c:v>7721</c:v>
                </c:pt>
                <c:pt idx="20">
                  <c:v>7806</c:v>
                </c:pt>
                <c:pt idx="21">
                  <c:v>6881</c:v>
                </c:pt>
                <c:pt idx="22">
                  <c:v>4390</c:v>
                </c:pt>
                <c:pt idx="23">
                  <c:v>5035</c:v>
                </c:pt>
                <c:pt idx="24">
                  <c:v>3453</c:v>
                </c:pt>
                <c:pt idx="25">
                  <c:v>3654</c:v>
                </c:pt>
                <c:pt idx="26">
                  <c:v>3763</c:v>
                </c:pt>
                <c:pt idx="27">
                  <c:v>4104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1F5F9"/>
                </a:solidFill>
                <a:latin typeface="+mn-lt"/>
              </a:rPr>
              <a:t>Year-wise total accidents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accidents</c:v>
                </c:pt>
              </c:strCache>
            </c:strRef>
          </c:tx>
          <c:spPr>
            <a:solidFill>
              <a:srgbClr val="2DD4BF"/>
            </a:solidFill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1998</c:v>
                  </c:pt>
                  <c:pt idx="1">
                    <c:v>1999</c:v>
                  </c:pt>
                  <c:pt idx="2">
                    <c:v>2000</c:v>
                  </c:pt>
                  <c:pt idx="3">
                    <c:v>2001</c:v>
                  </c:pt>
                  <c:pt idx="4">
                    <c:v>2002</c:v>
                  </c:pt>
                  <c:pt idx="5">
                    <c:v>2003</c:v>
                  </c:pt>
                  <c:pt idx="6">
                    <c:v>2004</c:v>
                  </c:pt>
                  <c:pt idx="7">
                    <c:v>2005</c:v>
                  </c:pt>
                  <c:pt idx="8">
                    <c:v>2006</c:v>
                  </c:pt>
                  <c:pt idx="9">
                    <c:v>2007</c:v>
                  </c:pt>
                  <c:pt idx="10">
                    <c:v>2008</c:v>
                  </c:pt>
                  <c:pt idx="11">
                    <c:v>2009</c:v>
                  </c:pt>
                  <c:pt idx="12">
                    <c:v>2010</c:v>
                  </c:pt>
                  <c:pt idx="13">
                    <c:v>2011</c:v>
                  </c:pt>
                  <c:pt idx="14">
                    <c:v>2012</c:v>
                  </c:pt>
                  <c:pt idx="15">
                    <c:v>2013</c:v>
                  </c:pt>
                  <c:pt idx="16">
                    <c:v>2014</c:v>
                  </c:pt>
                  <c:pt idx="17">
                    <c:v>2015</c:v>
                  </c:pt>
                  <c:pt idx="18">
                    <c:v>2016</c:v>
                  </c:pt>
                  <c:pt idx="19">
                    <c:v>2017</c:v>
                  </c:pt>
                  <c:pt idx="20">
                    <c:v>2018</c:v>
                  </c:pt>
                  <c:pt idx="21">
                    <c:v>2019</c:v>
                  </c:pt>
                  <c:pt idx="22">
                    <c:v>2020</c:v>
                  </c:pt>
                  <c:pt idx="23">
                    <c:v>2021</c:v>
                  </c:pt>
                  <c:pt idx="24">
                    <c:v>2022</c:v>
                  </c:pt>
                  <c:pt idx="25">
                    <c:v>2023</c:v>
                  </c:pt>
                  <c:pt idx="26">
                    <c:v>2024</c:v>
                  </c:pt>
                  <c:pt idx="27">
                    <c:v>2025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5203</c:v>
                </c:pt>
                <c:pt idx="1">
                  <c:v>4644</c:v>
                </c:pt>
                <c:pt idx="2">
                  <c:v>5166</c:v>
                </c:pt>
                <c:pt idx="3">
                  <c:v>5242</c:v>
                </c:pt>
                <c:pt idx="4">
                  <c:v>3635</c:v>
                </c:pt>
                <c:pt idx="5">
                  <c:v>4202</c:v>
                </c:pt>
                <c:pt idx="6">
                  <c:v>4873</c:v>
                </c:pt>
                <c:pt idx="7">
                  <c:v>4896</c:v>
                </c:pt>
                <c:pt idx="8">
                  <c:v>5817</c:v>
                </c:pt>
                <c:pt idx="9">
                  <c:v>7570</c:v>
                </c:pt>
                <c:pt idx="10">
                  <c:v>6823</c:v>
                </c:pt>
                <c:pt idx="11">
                  <c:v>5060</c:v>
                </c:pt>
                <c:pt idx="12">
                  <c:v>5133</c:v>
                </c:pt>
                <c:pt idx="13">
                  <c:v>6566</c:v>
                </c:pt>
                <c:pt idx="14">
                  <c:v>9663</c:v>
                </c:pt>
                <c:pt idx="15">
                  <c:v>9710</c:v>
                </c:pt>
                <c:pt idx="16">
                  <c:v>9465</c:v>
                </c:pt>
                <c:pt idx="17">
                  <c:v>7328</c:v>
                </c:pt>
                <c:pt idx="18">
                  <c:v>7486</c:v>
                </c:pt>
                <c:pt idx="19">
                  <c:v>7721</c:v>
                </c:pt>
                <c:pt idx="20">
                  <c:v>7806</c:v>
                </c:pt>
                <c:pt idx="21">
                  <c:v>6881</c:v>
                </c:pt>
                <c:pt idx="22">
                  <c:v>4390</c:v>
                </c:pt>
                <c:pt idx="23">
                  <c:v>5035</c:v>
                </c:pt>
                <c:pt idx="24">
                  <c:v>3453</c:v>
                </c:pt>
                <c:pt idx="25">
                  <c:v>3654</c:v>
                </c:pt>
                <c:pt idx="26">
                  <c:v>3763</c:v>
                </c:pt>
                <c:pt idx="27">
                  <c:v>4104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1F5F9"/>
                </a:solidFill>
                <a:latin typeface="+mn-lt"/>
              </a:rPr>
              <a:t>Change in total accidents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change %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Sheet1!$A$2:$A$28</c:f>
              <c:multiLvlStrCache>
                <c:ptCount val="27"/>
                <c:lvl>
                  <c:pt idx="0">
                    <c:v>1999</c:v>
                  </c:pt>
                  <c:pt idx="1">
                    <c:v>2000</c:v>
                  </c:pt>
                  <c:pt idx="2">
                    <c:v>2001</c:v>
                  </c:pt>
                  <c:pt idx="3">
                    <c:v>2002</c:v>
                  </c:pt>
                  <c:pt idx="4">
                    <c:v>2003</c:v>
                  </c:pt>
                  <c:pt idx="5">
                    <c:v>2004</c:v>
                  </c:pt>
                  <c:pt idx="6">
                    <c:v>2005</c:v>
                  </c:pt>
                  <c:pt idx="7">
                    <c:v>2006</c:v>
                  </c:pt>
                  <c:pt idx="8">
                    <c:v>2007</c:v>
                  </c:pt>
                  <c:pt idx="9">
                    <c:v>2008</c:v>
                  </c:pt>
                  <c:pt idx="10">
                    <c:v>2009</c:v>
                  </c:pt>
                  <c:pt idx="11">
                    <c:v>2010</c:v>
                  </c:pt>
                  <c:pt idx="12">
                    <c:v>2011</c:v>
                  </c:pt>
                  <c:pt idx="13">
                    <c:v>2012</c:v>
                  </c:pt>
                  <c:pt idx="14">
                    <c:v>2013</c:v>
                  </c:pt>
                  <c:pt idx="15">
                    <c:v>2014</c:v>
                  </c:pt>
                  <c:pt idx="16">
                    <c:v>2015</c:v>
                  </c:pt>
                  <c:pt idx="17">
                    <c:v>2016</c:v>
                  </c:pt>
                  <c:pt idx="18">
                    <c:v>2017</c:v>
                  </c:pt>
                  <c:pt idx="19">
                    <c:v>2018</c:v>
                  </c:pt>
                  <c:pt idx="20">
                    <c:v>2019</c:v>
                  </c:pt>
                  <c:pt idx="21">
                    <c:v>2020</c:v>
                  </c:pt>
                  <c:pt idx="22">
                    <c:v>2021</c:v>
                  </c:pt>
                  <c:pt idx="23">
                    <c:v>2022</c:v>
                  </c:pt>
                  <c:pt idx="24">
                    <c:v>2023</c:v>
                  </c:pt>
                  <c:pt idx="25">
                    <c:v>2024</c:v>
                  </c:pt>
                  <c:pt idx="26">
                    <c:v>2025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-10.74</c:v>
                </c:pt>
                <c:pt idx="1">
                  <c:v>11.24</c:v>
                </c:pt>
                <c:pt idx="2">
                  <c:v>1.47</c:v>
                </c:pt>
                <c:pt idx="3">
                  <c:v>-30.66</c:v>
                </c:pt>
                <c:pt idx="4">
                  <c:v>15.6</c:v>
                </c:pt>
                <c:pt idx="5">
                  <c:v>15.97</c:v>
                </c:pt>
                <c:pt idx="6">
                  <c:v>0.47</c:v>
                </c:pt>
                <c:pt idx="7">
                  <c:v>18.81</c:v>
                </c:pt>
                <c:pt idx="8">
                  <c:v>30.14</c:v>
                </c:pt>
                <c:pt idx="9">
                  <c:v>-9.87</c:v>
                </c:pt>
                <c:pt idx="10">
                  <c:v>-25.84</c:v>
                </c:pt>
                <c:pt idx="11">
                  <c:v>1.44</c:v>
                </c:pt>
                <c:pt idx="12">
                  <c:v>27.92</c:v>
                </c:pt>
                <c:pt idx="13">
                  <c:v>47.17</c:v>
                </c:pt>
                <c:pt idx="14">
                  <c:v>0.49</c:v>
                </c:pt>
                <c:pt idx="15">
                  <c:v>-2.52</c:v>
                </c:pt>
                <c:pt idx="16">
                  <c:v>-22.58</c:v>
                </c:pt>
                <c:pt idx="17">
                  <c:v>2.16</c:v>
                </c:pt>
                <c:pt idx="18">
                  <c:v>3.14</c:v>
                </c:pt>
                <c:pt idx="19">
                  <c:v>1.1</c:v>
                </c:pt>
                <c:pt idx="20">
                  <c:v>-11.85</c:v>
                </c:pt>
                <c:pt idx="21">
                  <c:v>-36.2</c:v>
                </c:pt>
                <c:pt idx="22">
                  <c:v>14.69</c:v>
                </c:pt>
                <c:pt idx="23">
                  <c:v>-31.42</c:v>
                </c:pt>
                <c:pt idx="24">
                  <c:v>5.82</c:v>
                </c:pt>
                <c:pt idx="25">
                  <c:v>2.98</c:v>
                </c:pt>
                <c:pt idx="26">
                  <c:v>9.06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1F5F9"/>
                </a:solidFill>
                <a:latin typeface="+mn-lt"/>
              </a:rPr>
              <a:t>Fatal accidents vs people killed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 accidents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1998</c:v>
                  </c:pt>
                  <c:pt idx="1">
                    <c:v>1999</c:v>
                  </c:pt>
                  <c:pt idx="2">
                    <c:v>2000</c:v>
                  </c:pt>
                  <c:pt idx="3">
                    <c:v>2001</c:v>
                  </c:pt>
                  <c:pt idx="4">
                    <c:v>2002</c:v>
                  </c:pt>
                  <c:pt idx="5">
                    <c:v>2003</c:v>
                  </c:pt>
                  <c:pt idx="6">
                    <c:v>2004</c:v>
                  </c:pt>
                  <c:pt idx="7">
                    <c:v>2005</c:v>
                  </c:pt>
                  <c:pt idx="8">
                    <c:v>2006</c:v>
                  </c:pt>
                  <c:pt idx="9">
                    <c:v>2007</c:v>
                  </c:pt>
                  <c:pt idx="10">
                    <c:v>2008</c:v>
                  </c:pt>
                  <c:pt idx="11">
                    <c:v>2009</c:v>
                  </c:pt>
                  <c:pt idx="12">
                    <c:v>2010</c:v>
                  </c:pt>
                  <c:pt idx="13">
                    <c:v>2011</c:v>
                  </c:pt>
                  <c:pt idx="14">
                    <c:v>2012</c:v>
                  </c:pt>
                  <c:pt idx="15">
                    <c:v>2013</c:v>
                  </c:pt>
                  <c:pt idx="16">
                    <c:v>2014</c:v>
                  </c:pt>
                  <c:pt idx="17">
                    <c:v>2015</c:v>
                  </c:pt>
                  <c:pt idx="18">
                    <c:v>2016</c:v>
                  </c:pt>
                  <c:pt idx="19">
                    <c:v>2017</c:v>
                  </c:pt>
                  <c:pt idx="20">
                    <c:v>2018</c:v>
                  </c:pt>
                  <c:pt idx="21">
                    <c:v>2019</c:v>
                  </c:pt>
                  <c:pt idx="22">
                    <c:v>2020</c:v>
                  </c:pt>
                  <c:pt idx="23">
                    <c:v>2021</c:v>
                  </c:pt>
                  <c:pt idx="24">
                    <c:v>2022</c:v>
                  </c:pt>
                  <c:pt idx="25">
                    <c:v>2023</c:v>
                  </c:pt>
                  <c:pt idx="26">
                    <c:v>2024</c:v>
                  </c:pt>
                  <c:pt idx="27">
                    <c:v>2025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561</c:v>
                </c:pt>
                <c:pt idx="1">
                  <c:v>575</c:v>
                </c:pt>
                <c:pt idx="2">
                  <c:v>574</c:v>
                </c:pt>
                <c:pt idx="3">
                  <c:v>611</c:v>
                </c:pt>
                <c:pt idx="4">
                  <c:v>461</c:v>
                </c:pt>
                <c:pt idx="5">
                  <c:v>509</c:v>
                </c:pt>
                <c:pt idx="6">
                  <c:v>560</c:v>
                </c:pt>
                <c:pt idx="7">
                  <c:v>550</c:v>
                </c:pt>
                <c:pt idx="8">
                  <c:v>1082</c:v>
                </c:pt>
                <c:pt idx="9">
                  <c:v>1110</c:v>
                </c:pt>
                <c:pt idx="10">
                  <c:v>859</c:v>
                </c:pt>
                <c:pt idx="11">
                  <c:v>582</c:v>
                </c:pt>
                <c:pt idx="12">
                  <c:v>604</c:v>
                </c:pt>
                <c:pt idx="13">
                  <c:v>906</c:v>
                </c:pt>
                <c:pt idx="14">
                  <c:v>1367</c:v>
                </c:pt>
                <c:pt idx="15">
                  <c:v>1215</c:v>
                </c:pt>
                <c:pt idx="16">
                  <c:v>1020</c:v>
                </c:pt>
                <c:pt idx="17">
                  <c:v>859</c:v>
                </c:pt>
                <c:pt idx="18">
                  <c:v>1155</c:v>
                </c:pt>
                <c:pt idx="19">
                  <c:v>1352</c:v>
                </c:pt>
                <c:pt idx="20">
                  <c:v>1336</c:v>
                </c:pt>
                <c:pt idx="21">
                  <c:v>1290</c:v>
                </c:pt>
                <c:pt idx="22">
                  <c:v>886</c:v>
                </c:pt>
                <c:pt idx="23">
                  <c:v>976</c:v>
                </c:pt>
                <c:pt idx="24">
                  <c:v>499</c:v>
                </c:pt>
                <c:pt idx="25">
                  <c:v>499</c:v>
                </c:pt>
                <c:pt idx="26">
                  <c:v>533</c:v>
                </c:pt>
                <c:pt idx="27">
                  <c:v>493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People killed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1998</c:v>
                  </c:pt>
                  <c:pt idx="1">
                    <c:v>1999</c:v>
                  </c:pt>
                  <c:pt idx="2">
                    <c:v>2000</c:v>
                  </c:pt>
                  <c:pt idx="3">
                    <c:v>2001</c:v>
                  </c:pt>
                  <c:pt idx="4">
                    <c:v>2002</c:v>
                  </c:pt>
                  <c:pt idx="5">
                    <c:v>2003</c:v>
                  </c:pt>
                  <c:pt idx="6">
                    <c:v>2004</c:v>
                  </c:pt>
                  <c:pt idx="7">
                    <c:v>2005</c:v>
                  </c:pt>
                  <c:pt idx="8">
                    <c:v>2006</c:v>
                  </c:pt>
                  <c:pt idx="9">
                    <c:v>2007</c:v>
                  </c:pt>
                  <c:pt idx="10">
                    <c:v>2008</c:v>
                  </c:pt>
                  <c:pt idx="11">
                    <c:v>2009</c:v>
                  </c:pt>
                  <c:pt idx="12">
                    <c:v>2010</c:v>
                  </c:pt>
                  <c:pt idx="13">
                    <c:v>2011</c:v>
                  </c:pt>
                  <c:pt idx="14">
                    <c:v>2012</c:v>
                  </c:pt>
                  <c:pt idx="15">
                    <c:v>2013</c:v>
                  </c:pt>
                  <c:pt idx="16">
                    <c:v>2014</c:v>
                  </c:pt>
                  <c:pt idx="17">
                    <c:v>2015</c:v>
                  </c:pt>
                  <c:pt idx="18">
                    <c:v>2016</c:v>
                  </c:pt>
                  <c:pt idx="19">
                    <c:v>2017</c:v>
                  </c:pt>
                  <c:pt idx="20">
                    <c:v>2018</c:v>
                  </c:pt>
                  <c:pt idx="21">
                    <c:v>2019</c:v>
                  </c:pt>
                  <c:pt idx="22">
                    <c:v>2020</c:v>
                  </c:pt>
                  <c:pt idx="23">
                    <c:v>2021</c:v>
                  </c:pt>
                  <c:pt idx="24">
                    <c:v>2022</c:v>
                  </c:pt>
                  <c:pt idx="25">
                    <c:v>2023</c:v>
                  </c:pt>
                  <c:pt idx="26">
                    <c:v>2024</c:v>
                  </c:pt>
                  <c:pt idx="27">
                    <c:v>2025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724</c:v>
                </c:pt>
                <c:pt idx="1">
                  <c:v>681</c:v>
                </c:pt>
                <c:pt idx="2">
                  <c:v>590</c:v>
                </c:pt>
                <c:pt idx="3">
                  <c:v>638</c:v>
                </c:pt>
                <c:pt idx="4">
                  <c:v>474</c:v>
                </c:pt>
                <c:pt idx="5">
                  <c:v>529</c:v>
                </c:pt>
                <c:pt idx="6">
                  <c:v>575</c:v>
                </c:pt>
                <c:pt idx="7">
                  <c:v>561</c:v>
                </c:pt>
                <c:pt idx="8">
                  <c:v>1106</c:v>
                </c:pt>
                <c:pt idx="9">
                  <c:v>1146</c:v>
                </c:pt>
                <c:pt idx="10">
                  <c:v>888</c:v>
                </c:pt>
                <c:pt idx="11">
                  <c:v>598</c:v>
                </c:pt>
                <c:pt idx="12">
                  <c:v>621</c:v>
                </c:pt>
                <c:pt idx="13">
                  <c:v>929</c:v>
                </c:pt>
                <c:pt idx="14">
                  <c:v>1401</c:v>
                </c:pt>
                <c:pt idx="15">
                  <c:v>1247</c:v>
                </c:pt>
                <c:pt idx="16">
                  <c:v>1046</c:v>
                </c:pt>
                <c:pt idx="17">
                  <c:v>886</c:v>
                </c:pt>
                <c:pt idx="18">
                  <c:v>1183</c:v>
                </c:pt>
                <c:pt idx="19">
                  <c:v>1382</c:v>
                </c:pt>
                <c:pt idx="20">
                  <c:v>1371</c:v>
                </c:pt>
                <c:pt idx="21">
                  <c:v>1324</c:v>
                </c:pt>
                <c:pt idx="22">
                  <c:v>911</c:v>
                </c:pt>
                <c:pt idx="23">
                  <c:v>999</c:v>
                </c:pt>
                <c:pt idx="24">
                  <c:v>507</c:v>
                </c:pt>
                <c:pt idx="25">
                  <c:v>504</c:v>
                </c:pt>
                <c:pt idx="26">
                  <c:v>543</c:v>
                </c:pt>
                <c:pt idx="27">
                  <c:v>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1F5F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1F5F9"/>
                </a:solidFill>
                <a:latin typeface="+mn-lt"/>
              </a:rPr>
              <a:t>Total accidents by category, 1998–2025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Fatal</c:v>
                  </c:pt>
                  <c:pt idx="1">
                    <c:v>Grievous injury</c:v>
                  </c:pt>
                  <c:pt idx="2">
                    <c:v>Minor injury</c:v>
                  </c:pt>
                  <c:pt idx="3">
                    <c:v>Non-injury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23024</c:v>
                </c:pt>
                <c:pt idx="1">
                  <c:v>37876</c:v>
                </c:pt>
                <c:pt idx="2">
                  <c:v>90358</c:v>
                </c:pt>
                <c:pt idx="3">
                  <c:v>14026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0"/>
        </c:scaling>
        <c:delete val="1"/>
        <c:axPos val="b"/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1F5F9"/>
                </a:solidFill>
                <a:latin typeface="+mn-lt"/>
              </a:rPr>
              <a:t>People injured per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Grievous injured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1998</c:v>
                  </c:pt>
                  <c:pt idx="1">
                    <c:v>1999</c:v>
                  </c:pt>
                  <c:pt idx="2">
                    <c:v>2000</c:v>
                  </c:pt>
                  <c:pt idx="3">
                    <c:v>2001</c:v>
                  </c:pt>
                  <c:pt idx="4">
                    <c:v>2002</c:v>
                  </c:pt>
                  <c:pt idx="5">
                    <c:v>2003</c:v>
                  </c:pt>
                  <c:pt idx="6">
                    <c:v>2004</c:v>
                  </c:pt>
                  <c:pt idx="7">
                    <c:v>2005</c:v>
                  </c:pt>
                  <c:pt idx="8">
                    <c:v>2006</c:v>
                  </c:pt>
                  <c:pt idx="9">
                    <c:v>2007</c:v>
                  </c:pt>
                  <c:pt idx="10">
                    <c:v>2008</c:v>
                  </c:pt>
                  <c:pt idx="11">
                    <c:v>2009</c:v>
                  </c:pt>
                  <c:pt idx="12">
                    <c:v>2010</c:v>
                  </c:pt>
                  <c:pt idx="13">
                    <c:v>2011</c:v>
                  </c:pt>
                  <c:pt idx="14">
                    <c:v>2012</c:v>
                  </c:pt>
                  <c:pt idx="15">
                    <c:v>2013</c:v>
                  </c:pt>
                  <c:pt idx="16">
                    <c:v>2014</c:v>
                  </c:pt>
                  <c:pt idx="17">
                    <c:v>2015</c:v>
                  </c:pt>
                  <c:pt idx="18">
                    <c:v>2016</c:v>
                  </c:pt>
                  <c:pt idx="19">
                    <c:v>2017</c:v>
                  </c:pt>
                  <c:pt idx="20">
                    <c:v>2018</c:v>
                  </c:pt>
                  <c:pt idx="21">
                    <c:v>2019</c:v>
                  </c:pt>
                  <c:pt idx="22">
                    <c:v>2020</c:v>
                  </c:pt>
                  <c:pt idx="23">
                    <c:v>2021</c:v>
                  </c:pt>
                  <c:pt idx="24">
                    <c:v>2022</c:v>
                  </c:pt>
                  <c:pt idx="25">
                    <c:v>2023</c:v>
                  </c:pt>
                  <c:pt idx="26">
                    <c:v>2024</c:v>
                  </c:pt>
                  <c:pt idx="27">
                    <c:v>2025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1844</c:v>
                </c:pt>
                <c:pt idx="1">
                  <c:v>87</c:v>
                </c:pt>
                <c:pt idx="2">
                  <c:v>61</c:v>
                </c:pt>
                <c:pt idx="3">
                  <c:v>147</c:v>
                </c:pt>
                <c:pt idx="4">
                  <c:v>234</c:v>
                </c:pt>
                <c:pt idx="5">
                  <c:v>238</c:v>
                </c:pt>
                <c:pt idx="6">
                  <c:v>279</c:v>
                </c:pt>
                <c:pt idx="7">
                  <c:v>532</c:v>
                </c:pt>
                <c:pt idx="8">
                  <c:v>128</c:v>
                </c:pt>
                <c:pt idx="9">
                  <c:v>1907</c:v>
                </c:pt>
                <c:pt idx="10">
                  <c:v>72</c:v>
                </c:pt>
                <c:pt idx="11">
                  <c:v>139</c:v>
                </c:pt>
                <c:pt idx="12">
                  <c:v>1749</c:v>
                </c:pt>
                <c:pt idx="13">
                  <c:v>320</c:v>
                </c:pt>
                <c:pt idx="14">
                  <c:v>712</c:v>
                </c:pt>
                <c:pt idx="15">
                  <c:v>831</c:v>
                </c:pt>
                <c:pt idx="16">
                  <c:v>1341</c:v>
                </c:pt>
                <c:pt idx="17">
                  <c:v>3406</c:v>
                </c:pt>
                <c:pt idx="18">
                  <c:v>2227</c:v>
                </c:pt>
                <c:pt idx="19">
                  <c:v>4844</c:v>
                </c:pt>
                <c:pt idx="20">
                  <c:v>5039</c:v>
                </c:pt>
                <c:pt idx="21">
                  <c:v>4079</c:v>
                </c:pt>
                <c:pt idx="22">
                  <c:v>2655</c:v>
                </c:pt>
                <c:pt idx="23">
                  <c:v>3073</c:v>
                </c:pt>
                <c:pt idx="24">
                  <c:v>1791</c:v>
                </c:pt>
                <c:pt idx="25">
                  <c:v>2470</c:v>
                </c:pt>
                <c:pt idx="26">
                  <c:v>2687</c:v>
                </c:pt>
                <c:pt idx="27">
                  <c:v>1600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Minor injured</c:v>
                </c:pt>
              </c:strCache>
            </c:strRef>
          </c:tx>
          <c:spPr>
            <a:solidFill>
              <a:srgbClr val="3B82F6"/>
            </a:solidFill>
            <a:ln w="3810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1998</c:v>
                  </c:pt>
                  <c:pt idx="1">
                    <c:v>1999</c:v>
                  </c:pt>
                  <c:pt idx="2">
                    <c:v>2000</c:v>
                  </c:pt>
                  <c:pt idx="3">
                    <c:v>2001</c:v>
                  </c:pt>
                  <c:pt idx="4">
                    <c:v>2002</c:v>
                  </c:pt>
                  <c:pt idx="5">
                    <c:v>2003</c:v>
                  </c:pt>
                  <c:pt idx="6">
                    <c:v>2004</c:v>
                  </c:pt>
                  <c:pt idx="7">
                    <c:v>2005</c:v>
                  </c:pt>
                  <c:pt idx="8">
                    <c:v>2006</c:v>
                  </c:pt>
                  <c:pt idx="9">
                    <c:v>2007</c:v>
                  </c:pt>
                  <c:pt idx="10">
                    <c:v>2008</c:v>
                  </c:pt>
                  <c:pt idx="11">
                    <c:v>2009</c:v>
                  </c:pt>
                  <c:pt idx="12">
                    <c:v>2010</c:v>
                  </c:pt>
                  <c:pt idx="13">
                    <c:v>2011</c:v>
                  </c:pt>
                  <c:pt idx="14">
                    <c:v>2012</c:v>
                  </c:pt>
                  <c:pt idx="15">
                    <c:v>2013</c:v>
                  </c:pt>
                  <c:pt idx="16">
                    <c:v>2014</c:v>
                  </c:pt>
                  <c:pt idx="17">
                    <c:v>2015</c:v>
                  </c:pt>
                  <c:pt idx="18">
                    <c:v>2016</c:v>
                  </c:pt>
                  <c:pt idx="19">
                    <c:v>2017</c:v>
                  </c:pt>
                  <c:pt idx="20">
                    <c:v>2018</c:v>
                  </c:pt>
                  <c:pt idx="21">
                    <c:v>2019</c:v>
                  </c:pt>
                  <c:pt idx="22">
                    <c:v>2020</c:v>
                  </c:pt>
                  <c:pt idx="23">
                    <c:v>2021</c:v>
                  </c:pt>
                  <c:pt idx="24">
                    <c:v>2022</c:v>
                  </c:pt>
                  <c:pt idx="25">
                    <c:v>2023</c:v>
                  </c:pt>
                  <c:pt idx="26">
                    <c:v>2024</c:v>
                  </c:pt>
                  <c:pt idx="27">
                    <c:v>2025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3041</c:v>
                </c:pt>
                <c:pt idx="1">
                  <c:v>4269</c:v>
                </c:pt>
                <c:pt idx="2">
                  <c:v>4768</c:v>
                </c:pt>
                <c:pt idx="3">
                  <c:v>4640</c:v>
                </c:pt>
                <c:pt idx="4">
                  <c:v>3376</c:v>
                </c:pt>
                <c:pt idx="5">
                  <c:v>4069</c:v>
                </c:pt>
                <c:pt idx="6">
                  <c:v>4549</c:v>
                </c:pt>
                <c:pt idx="7">
                  <c:v>4526</c:v>
                </c:pt>
                <c:pt idx="8">
                  <c:v>5208</c:v>
                </c:pt>
                <c:pt idx="9">
                  <c:v>5331</c:v>
                </c:pt>
                <c:pt idx="10">
                  <c:v>5060</c:v>
                </c:pt>
                <c:pt idx="11">
                  <c:v>4123</c:v>
                </c:pt>
                <c:pt idx="12">
                  <c:v>2664</c:v>
                </c:pt>
                <c:pt idx="13">
                  <c:v>5343</c:v>
                </c:pt>
                <c:pt idx="14">
                  <c:v>7916</c:v>
                </c:pt>
                <c:pt idx="15">
                  <c:v>7869</c:v>
                </c:pt>
                <c:pt idx="16">
                  <c:v>7914</c:v>
                </c:pt>
                <c:pt idx="17">
                  <c:v>3914</c:v>
                </c:pt>
                <c:pt idx="18">
                  <c:v>5122</c:v>
                </c:pt>
                <c:pt idx="19">
                  <c:v>2110</c:v>
                </c:pt>
                <c:pt idx="20">
                  <c:v>2491</c:v>
                </c:pt>
                <c:pt idx="21">
                  <c:v>2359</c:v>
                </c:pt>
                <c:pt idx="22">
                  <c:v>1508</c:v>
                </c:pt>
                <c:pt idx="23">
                  <c:v>1947</c:v>
                </c:pt>
                <c:pt idx="24">
                  <c:v>1934</c:v>
                </c:pt>
                <c:pt idx="25">
                  <c:v>1490</c:v>
                </c:pt>
                <c:pt idx="26">
                  <c:v>1283</c:v>
                </c:pt>
                <c:pt idx="27">
                  <c:v>2792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1F5F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1F5F9"/>
                </a:solidFill>
                <a:latin typeface="+mn-lt"/>
              </a:rPr>
              <a:t>Correlation with Total Accidents (r)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Persons involved</c:v>
                  </c:pt>
                  <c:pt idx="1">
                    <c:v>People killed</c:v>
                  </c:pt>
                  <c:pt idx="2">
                    <c:v>Fatal accidents</c:v>
                  </c:pt>
                  <c:pt idx="3">
                    <c:v>Minor injured</c:v>
                  </c:pt>
                  <c:pt idx="4">
                    <c:v>Minor-injury accidents</c:v>
                  </c:pt>
                  <c:pt idx="5">
                    <c:v>Non-injury accidents</c:v>
                  </c:pt>
                  <c:pt idx="6">
                    <c:v>Grievous-injury accidents</c:v>
                  </c:pt>
                  <c:pt idx="7">
                    <c:v>Grievous injured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0.97</c:v>
                </c:pt>
                <c:pt idx="1">
                  <c:v>0.85</c:v>
                </c:pt>
                <c:pt idx="2">
                  <c:v>0.84</c:v>
                </c:pt>
                <c:pt idx="3">
                  <c:v>0.69</c:v>
                </c:pt>
                <c:pt idx="4">
                  <c:v>0.67</c:v>
                </c:pt>
                <c:pt idx="5">
                  <c:v>0.53</c:v>
                </c:pt>
                <c:pt idx="6">
                  <c:v>0.22</c:v>
                </c:pt>
                <c:pt idx="7">
                  <c:v>0.2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accidents</c:v>
                </c:pt>
              </c:strCache>
            </c:strRef>
          </c:tx>
          <c:spPr>
            <a:solidFill>
              <a:srgbClr val="2DD4BF"/>
            </a:solidFill>
            <a:ln w="25400" cap="flat">
              <a:solidFill>
                <a:srgbClr val="2DD4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1998</c:v>
                  </c:pt>
                  <c:pt idx="1">
                    <c:v>1999</c:v>
                  </c:pt>
                  <c:pt idx="2">
                    <c:v>2000</c:v>
                  </c:pt>
                  <c:pt idx="3">
                    <c:v>2001</c:v>
                  </c:pt>
                  <c:pt idx="4">
                    <c:v>2002</c:v>
                  </c:pt>
                  <c:pt idx="5">
                    <c:v>2003</c:v>
                  </c:pt>
                  <c:pt idx="6">
                    <c:v>2004</c:v>
                  </c:pt>
                  <c:pt idx="7">
                    <c:v>2005</c:v>
                  </c:pt>
                  <c:pt idx="8">
                    <c:v>2006</c:v>
                  </c:pt>
                  <c:pt idx="9">
                    <c:v>2007</c:v>
                  </c:pt>
                  <c:pt idx="10">
                    <c:v>2008</c:v>
                  </c:pt>
                  <c:pt idx="11">
                    <c:v>2009</c:v>
                  </c:pt>
                  <c:pt idx="12">
                    <c:v>2010</c:v>
                  </c:pt>
                  <c:pt idx="13">
                    <c:v>2011</c:v>
                  </c:pt>
                  <c:pt idx="14">
                    <c:v>2012</c:v>
                  </c:pt>
                  <c:pt idx="15">
                    <c:v>2013</c:v>
                  </c:pt>
                  <c:pt idx="16">
                    <c:v>2014</c:v>
                  </c:pt>
                  <c:pt idx="17">
                    <c:v>2015</c:v>
                  </c:pt>
                  <c:pt idx="18">
                    <c:v>2016</c:v>
                  </c:pt>
                  <c:pt idx="19">
                    <c:v>2017</c:v>
                  </c:pt>
                  <c:pt idx="20">
                    <c:v>2018</c:v>
                  </c:pt>
                  <c:pt idx="21">
                    <c:v>2019</c:v>
                  </c:pt>
                  <c:pt idx="22">
                    <c:v>2020</c:v>
                  </c:pt>
                  <c:pt idx="23">
                    <c:v>2021</c:v>
                  </c:pt>
                  <c:pt idx="24">
                    <c:v>2022</c:v>
                  </c:pt>
                  <c:pt idx="25">
                    <c:v>2023</c:v>
                  </c:pt>
                  <c:pt idx="26">
                    <c:v>2024</c:v>
                  </c:pt>
                  <c:pt idx="27">
                    <c:v>2025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5203</c:v>
                </c:pt>
                <c:pt idx="1">
                  <c:v>4644</c:v>
                </c:pt>
                <c:pt idx="2">
                  <c:v>5166</c:v>
                </c:pt>
                <c:pt idx="3">
                  <c:v>5242</c:v>
                </c:pt>
                <c:pt idx="4">
                  <c:v>3635</c:v>
                </c:pt>
                <c:pt idx="5">
                  <c:v>4202</c:v>
                </c:pt>
                <c:pt idx="6">
                  <c:v>4873</c:v>
                </c:pt>
                <c:pt idx="7">
                  <c:v>4896</c:v>
                </c:pt>
                <c:pt idx="8">
                  <c:v>5817</c:v>
                </c:pt>
                <c:pt idx="9">
                  <c:v>7570</c:v>
                </c:pt>
                <c:pt idx="10">
                  <c:v>6823</c:v>
                </c:pt>
                <c:pt idx="11">
                  <c:v>5060</c:v>
                </c:pt>
                <c:pt idx="12">
                  <c:v>5133</c:v>
                </c:pt>
                <c:pt idx="13">
                  <c:v>6566</c:v>
                </c:pt>
                <c:pt idx="14">
                  <c:v>9663</c:v>
                </c:pt>
                <c:pt idx="15">
                  <c:v>9710</c:v>
                </c:pt>
                <c:pt idx="16">
                  <c:v>9465</c:v>
                </c:pt>
                <c:pt idx="17">
                  <c:v>7328</c:v>
                </c:pt>
                <c:pt idx="18">
                  <c:v>7486</c:v>
                </c:pt>
                <c:pt idx="19">
                  <c:v>7721</c:v>
                </c:pt>
                <c:pt idx="20">
                  <c:v>7806</c:v>
                </c:pt>
                <c:pt idx="21">
                  <c:v>6881</c:v>
                </c:pt>
                <c:pt idx="22">
                  <c:v>4390</c:v>
                </c:pt>
                <c:pt idx="23">
                  <c:v>5035</c:v>
                </c:pt>
                <c:pt idx="24">
                  <c:v>3453</c:v>
                </c:pt>
                <c:pt idx="25">
                  <c:v>3654</c:v>
                </c:pt>
                <c:pt idx="26">
                  <c:v>3763</c:v>
                </c:pt>
                <c:pt idx="27">
                  <c:v>4104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Fatal</c:v>
                  </c:pt>
                  <c:pt idx="1">
                    <c:v>Grievous injury</c:v>
                  </c:pt>
                  <c:pt idx="2">
                    <c:v>Minor injury</c:v>
                  </c:pt>
                  <c:pt idx="3">
                    <c:v>Non-injury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23024</c:v>
                </c:pt>
                <c:pt idx="1">
                  <c:v>37876</c:v>
                </c:pt>
                <c:pt idx="2">
                  <c:v>90358</c:v>
                </c:pt>
                <c:pt idx="3">
                  <c:v>14026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annual road-accident dataset (1998-2025) explored first in Python (EDA) and then presented as a Power BI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 come from summing all 28 yearly rows. Fatalities = 'Fatal Killed'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notebook is the analysis/validation stage; Power BI is the presentation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source file also has an _id column (record number). The header 'Grievous Injurty - Injured' contains a typo in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basic quality checks pass. The four watch-outs are things to confirm with the data source before drawing strong conclusions, especially the grievous-injury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5,903 and median 5,184.5 per year. Peak 2013 (9,710); low 2022 (3,453).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2012 shows the largest rise (+47.17%); 2020 the largest fall (-36.20%). Period averages are a simple grouping of years to show the overall shape: a high plateau in 2012-2019, then roughly half that level in 2020-2025.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Fatal share = people killed / total accidents. 2020: 911 / 4,390 = 20.8%. Overall: 23,864 / 165,289 = 14.4%.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totals: minor 90,358; grievous 37,876; fatal 23,024; non-injury 14,026. Shares are of the sum of the four categories (165,284), which is 5 less than Total Accidents because of the 2013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grievous injured: 2018 (5,039). Peak minor injured: 2012 (7,916). Treat the crossover as something to verify with the data owner, not as proof of a real change in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Computed with pandas .corr() on the nine numeric measures. The heatmap in the notebook shows the full matrix; this slide pulls out the row for Total Accidents.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planned page layout for the Power BI report; the thumbnails are drawn from the same data used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 averages: 2012-2019 = 8,258; 2020-2025 = 4,067 (about 51% lower). The reasons are not in this dataset, so the first recommendation is to investigate rather than assume.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three messages: clean data, a clear peak-and-drop pattern, and a dashboard that makes it explorable.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</a:rPr>
              <a:t>TRAFFIC ACCIDENT ANALYSIS  •  PYTHON EDA + POWER BI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image" Target="../media/image-12-1.png"/><Relationship Id="rId4" Type="http://schemas.openxmlformats.org/officeDocument/2006/relationships/image" Target="../media/image-12-2.png"/><Relationship Id="rId5" Type="http://schemas.openxmlformats.org/officeDocument/2006/relationships/image" Target="../media/image-12-3.png"/><Relationship Id="rId6" Type="http://schemas.openxmlformats.org/officeDocument/2006/relationships/image" Target="../media/image-12-4.png"/><Relationship Id="rId7" Type="http://schemas.openxmlformats.org/officeDocument/2006/relationships/image" Target="../media/image-12-5.png"/><Relationship Id="rId8" Type="http://schemas.openxmlformats.org/officeDocument/2006/relationships/image" Target="../media/image-12-6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3258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DATA ANALYTICS PROJECT  /  PYTHON + POWER BI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Traffic Accident Analysis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03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Year-wise accident trends and severity insights, 1998–2025</a:t>
            </a:r>
            <a:endParaRPr lang="en-US" sz="1800" dirty="0"/>
          </a:p>
        </p:txBody>
      </p:sp>
      <p:sp>
        <p:nvSpPr>
          <p:cNvPr id="5" name="Presenter"/>
          <p:cNvSpPr txBox="1"/>
          <p:nvPr/>
        </p:nvSpPr>
        <p:spPr>
          <a:xfrm>
            <a:off x="73152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Presented by  Kannadasan K</a:t>
            </a:r>
            <a:endParaRPr lang="en-US" sz="1600" dirty="0"/>
          </a:p>
        </p:txBody>
      </p:sp>
      <p:sp>
        <p:nvSpPr>
          <p:cNvPr id="6" name="Tools line"/>
          <p:cNvSpPr txBox="1"/>
          <p:nvPr/>
        </p:nvSpPr>
        <p:spPr>
          <a:xfrm>
            <a:off x="731520" y="55778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Tools: Python (pandas, Matplotlib)  |  Microsoft Power BI</a:t>
            </a:r>
            <a:endParaRPr lang="en-US" sz="1200" dirty="0"/>
          </a:p>
        </p:txBody>
      </p:sp>
      <p:sp>
        <p:nvSpPr>
          <p:cNvPr id="7" name="Cover chart card"/>
          <p:cNvSpPr/>
          <p:nvPr/>
        </p:nvSpPr>
        <p:spPr>
          <a:xfrm>
            <a:off x="7040880" y="1097280"/>
            <a:ext cx="4572000" cy="466344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over chart label"/>
          <p:cNvSpPr txBox="1"/>
          <p:nvPr/>
        </p:nvSpPr>
        <p:spPr>
          <a:xfrm>
            <a:off x="73152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TOTAL ACCIDENTS PER YEAR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223760" y="169164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Cover caption"/>
          <p:cNvSpPr txBox="1"/>
          <p:nvPr/>
        </p:nvSpPr>
        <p:spPr>
          <a:xfrm>
            <a:off x="7315200" y="46177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28 years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of annual records, from 5,203 accidents in 1998 to 4,104 in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Turning annual accident records into clear insights and an interactive report.</a:t>
            </a:r>
            <a:endParaRPr lang="en-US" sz="1400" dirty="0"/>
          </a:p>
        </p:txBody>
      </p:sp>
      <p:sp>
        <p:nvSpPr>
          <p:cNvPr id="4" name="KPI years"/>
          <p:cNvSpPr/>
          <p:nvPr/>
        </p:nvSpPr>
        <p:spPr>
          <a:xfrm>
            <a:off x="548640" y="155448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KPI years label"/>
          <p:cNvSpPr txBox="1"/>
          <p:nvPr/>
        </p:nvSpPr>
        <p:spPr>
          <a:xfrm>
            <a:off x="777240" y="1691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YEARS COVERED</a:t>
            </a:r>
            <a:endParaRPr lang="en-US" sz="1100" dirty="0"/>
          </a:p>
        </p:txBody>
      </p:sp>
      <p:sp>
        <p:nvSpPr>
          <p:cNvPr id="6" name="KPI years value"/>
          <p:cNvSpPr txBox="1"/>
          <p:nvPr/>
        </p:nvSpPr>
        <p:spPr>
          <a:xfrm>
            <a:off x="77724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1998–2025</a:t>
            </a:r>
            <a:endParaRPr lang="en-US" sz="3200" dirty="0"/>
          </a:p>
        </p:txBody>
      </p:sp>
      <p:sp>
        <p:nvSpPr>
          <p:cNvPr id="7" name="KPI years note"/>
          <p:cNvSpPr txBox="1"/>
          <p:nvPr/>
        </p:nvSpPr>
        <p:spPr>
          <a:xfrm>
            <a:off x="777240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28 yearly records</a:t>
            </a:r>
            <a:endParaRPr lang="en-US" sz="1200" dirty="0"/>
          </a:p>
        </p:txBody>
      </p:sp>
      <p:sp>
        <p:nvSpPr>
          <p:cNvPr id="8" name="KPI accidents"/>
          <p:cNvSpPr/>
          <p:nvPr/>
        </p:nvSpPr>
        <p:spPr>
          <a:xfrm>
            <a:off x="3364992" y="155448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KPI accidents label"/>
          <p:cNvSpPr txBox="1"/>
          <p:nvPr/>
        </p:nvSpPr>
        <p:spPr>
          <a:xfrm>
            <a:off x="3593592" y="1691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TOTAL ACCIDENTS</a:t>
            </a:r>
            <a:endParaRPr lang="en-US" sz="1100" dirty="0"/>
          </a:p>
        </p:txBody>
      </p:sp>
      <p:sp>
        <p:nvSpPr>
          <p:cNvPr id="10" name="KPI accidents value"/>
          <p:cNvSpPr txBox="1"/>
          <p:nvPr/>
        </p:nvSpPr>
        <p:spPr>
          <a:xfrm>
            <a:off x="3593592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165,289</a:t>
            </a:r>
            <a:endParaRPr lang="en-US" sz="3200" dirty="0"/>
          </a:p>
        </p:txBody>
      </p:sp>
      <p:sp>
        <p:nvSpPr>
          <p:cNvPr id="11" name="KPI accidents note"/>
          <p:cNvSpPr txBox="1"/>
          <p:nvPr/>
        </p:nvSpPr>
        <p:spPr>
          <a:xfrm>
            <a:off x="3593592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Sum across dataset</a:t>
            </a:r>
            <a:endParaRPr lang="en-US" sz="1200" dirty="0"/>
          </a:p>
        </p:txBody>
      </p:sp>
      <p:sp>
        <p:nvSpPr>
          <p:cNvPr id="12" name="KPI fatalities"/>
          <p:cNvSpPr/>
          <p:nvPr/>
        </p:nvSpPr>
        <p:spPr>
          <a:xfrm>
            <a:off x="6181344" y="155448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KPI fatalities label"/>
          <p:cNvSpPr txBox="1"/>
          <p:nvPr/>
        </p:nvSpPr>
        <p:spPr>
          <a:xfrm>
            <a:off x="6409944" y="1691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FATALITIES</a:t>
            </a:r>
            <a:endParaRPr lang="en-US" sz="1100" dirty="0"/>
          </a:p>
        </p:txBody>
      </p:sp>
      <p:sp>
        <p:nvSpPr>
          <p:cNvPr id="14" name="KPI fatalities value"/>
          <p:cNvSpPr txBox="1"/>
          <p:nvPr/>
        </p:nvSpPr>
        <p:spPr>
          <a:xfrm>
            <a:off x="6409944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23,864</a:t>
            </a:r>
            <a:endParaRPr lang="en-US" sz="3200" dirty="0"/>
          </a:p>
        </p:txBody>
      </p:sp>
      <p:sp>
        <p:nvSpPr>
          <p:cNvPr id="15" name="KPI fatalities note"/>
          <p:cNvSpPr txBox="1"/>
          <p:nvPr/>
        </p:nvSpPr>
        <p:spPr>
          <a:xfrm>
            <a:off x="6409944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People killed, all years</a:t>
            </a:r>
            <a:endParaRPr lang="en-US" sz="1200" dirty="0"/>
          </a:p>
        </p:txBody>
      </p:sp>
      <p:sp>
        <p:nvSpPr>
          <p:cNvPr id="16" name="KPI persons"/>
          <p:cNvSpPr/>
          <p:nvPr/>
        </p:nvSpPr>
        <p:spPr>
          <a:xfrm>
            <a:off x="8997696" y="155448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KPI persons label"/>
          <p:cNvSpPr txBox="1"/>
          <p:nvPr/>
        </p:nvSpPr>
        <p:spPr>
          <a:xfrm>
            <a:off x="9226296" y="1691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PERSONS INVOLVED</a:t>
            </a:r>
            <a:endParaRPr lang="en-US" sz="1100" dirty="0"/>
          </a:p>
        </p:txBody>
      </p:sp>
      <p:sp>
        <p:nvSpPr>
          <p:cNvPr id="18" name="KPI persons value"/>
          <p:cNvSpPr txBox="1"/>
          <p:nvPr/>
        </p:nvSpPr>
        <p:spPr>
          <a:xfrm>
            <a:off x="9226296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179,086</a:t>
            </a:r>
            <a:endParaRPr lang="en-US" sz="3200" dirty="0"/>
          </a:p>
        </p:txBody>
      </p:sp>
      <p:sp>
        <p:nvSpPr>
          <p:cNvPr id="19" name="KPI persons note"/>
          <p:cNvSpPr txBox="1"/>
          <p:nvPr/>
        </p:nvSpPr>
        <p:spPr>
          <a:xfrm>
            <a:off x="9226296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Sum across dataset</a:t>
            </a:r>
            <a:endParaRPr lang="en-US" sz="1200" dirty="0"/>
          </a:p>
        </p:txBody>
      </p:sp>
      <p:sp>
        <p:nvSpPr>
          <p:cNvPr id="20" name="Purpose card"/>
          <p:cNvSpPr/>
          <p:nvPr/>
        </p:nvSpPr>
        <p:spPr>
          <a:xfrm>
            <a:off x="548640" y="315468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Header PROJECT PURPOSE"/>
          <p:cNvSpPr txBox="1"/>
          <p:nvPr/>
        </p:nvSpPr>
        <p:spPr>
          <a:xfrm>
            <a:off x="8229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PROJECT PURPOSE</a:t>
            </a:r>
            <a:endParaRPr lang="en-US" sz="1200" dirty="0"/>
          </a:p>
        </p:txBody>
      </p:sp>
      <p:sp>
        <p:nvSpPr>
          <p:cNvPr id="22" name="Purpose text"/>
          <p:cNvSpPr txBox="1"/>
          <p:nvPr/>
        </p:nvSpPr>
        <p:spPr>
          <a:xfrm>
            <a:off x="822960" y="37490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Explore year-wise accident volume and severity in Python, compare injury categories, and present the key indicators in an easy-to-read Power BI dashboard.</a:t>
            </a:r>
            <a:endParaRPr lang="en-US" sz="1600" dirty="0"/>
          </a:p>
        </p:txBody>
      </p:sp>
      <p:sp>
        <p:nvSpPr>
          <p:cNvPr id="23" name="Questions card"/>
          <p:cNvSpPr/>
          <p:nvPr/>
        </p:nvSpPr>
        <p:spPr>
          <a:xfrm>
            <a:off x="6217920" y="3154680"/>
            <a:ext cx="5422392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Header CORE QUESTIONS"/>
          <p:cNvSpPr txBox="1"/>
          <p:nvPr/>
        </p:nvSpPr>
        <p:spPr>
          <a:xfrm>
            <a:off x="64922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CORE QUESTIONS</a:t>
            </a:r>
            <a:endParaRPr lang="en-US" sz="1200" dirty="0"/>
          </a:p>
        </p:txBody>
      </p:sp>
      <p:sp>
        <p:nvSpPr>
          <p:cNvPr id="25" name="Questions list"/>
          <p:cNvSpPr txBox="1"/>
          <p:nvPr/>
        </p:nvSpPr>
        <p:spPr>
          <a:xfrm>
            <a:off x="6492240" y="37490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How does accident volume change over time?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How do fatalities vary by year?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Which severity categories have larger counts?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Which measures move together?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Approach: From Raw CSV to Dashboard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Python for exploration and checks, Power BI for the final report.</a:t>
            </a:r>
            <a:endParaRPr lang="en-US" sz="1400" dirty="0"/>
          </a:p>
        </p:txBody>
      </p:sp>
      <p:sp>
        <p:nvSpPr>
          <p:cNvPr id="4" name="Step card 1"/>
          <p:cNvSpPr/>
          <p:nvPr/>
        </p:nvSpPr>
        <p:spPr>
          <a:xfrm>
            <a:off x="54864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tep icon circle 1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tep icon 1" descr="1  Load &amp; insp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7" name="Step title 1"/>
          <p:cNvSpPr txBox="1"/>
          <p:nvPr/>
        </p:nvSpPr>
        <p:spPr>
          <a:xfrm>
            <a:off x="822960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  Load &amp; inspect</a:t>
            </a:r>
            <a:endParaRPr lang="en-US" sz="2000" dirty="0"/>
          </a:p>
        </p:txBody>
      </p:sp>
      <p:sp>
        <p:nvSpPr>
          <p:cNvPr id="8" name="Step text 1"/>
          <p:cNvSpPr txBox="1"/>
          <p:nvPr/>
        </p:nvSpPr>
        <p:spPr>
          <a:xfrm>
            <a:off x="82296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Read the CSV with pandas; check shape, columns, data types and summary statistics.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3364992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tep icon circle 2"/>
          <p:cNvSpPr/>
          <p:nvPr/>
        </p:nvSpPr>
        <p:spPr>
          <a:xfrm>
            <a:off x="3639312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Step icon 2" descr="2  Valid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194560"/>
            <a:ext cx="365760" cy="365760"/>
          </a:xfrm>
          <a:prstGeom prst="rect">
            <a:avLst/>
          </a:prstGeom>
        </p:spPr>
      </p:pic>
      <p:sp>
        <p:nvSpPr>
          <p:cNvPr id="12" name="Step title 2"/>
          <p:cNvSpPr txBox="1"/>
          <p:nvPr/>
        </p:nvSpPr>
        <p:spPr>
          <a:xfrm>
            <a:off x="3639312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  Validate</a:t>
            </a:r>
            <a:endParaRPr lang="en-US" sz="2000" dirty="0"/>
          </a:p>
        </p:txBody>
      </p:sp>
      <p:sp>
        <p:nvSpPr>
          <p:cNvPr id="13" name="Step text 2"/>
          <p:cNvSpPr txBox="1"/>
          <p:nvPr/>
        </p:nvSpPr>
        <p:spPr>
          <a:xfrm>
            <a:off x="3639312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Missing values, duplicate rows and years, negative values, category totals.</a:t>
            </a:r>
            <a:endParaRPr lang="en-US" sz="1400" dirty="0"/>
          </a:p>
        </p:txBody>
      </p:sp>
      <p:sp>
        <p:nvSpPr>
          <p:cNvPr id="14" name="Step card 3"/>
          <p:cNvSpPr/>
          <p:nvPr/>
        </p:nvSpPr>
        <p:spPr>
          <a:xfrm>
            <a:off x="6181344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Step icon circle 3"/>
          <p:cNvSpPr/>
          <p:nvPr/>
        </p:nvSpPr>
        <p:spPr>
          <a:xfrm>
            <a:off x="6455664" y="20116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Step icon 3" descr="3  Explore (EDA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194560"/>
            <a:ext cx="365760" cy="365760"/>
          </a:xfrm>
          <a:prstGeom prst="rect">
            <a:avLst/>
          </a:prstGeom>
        </p:spPr>
      </p:pic>
      <p:sp>
        <p:nvSpPr>
          <p:cNvPr id="17" name="Step title 3"/>
          <p:cNvSpPr txBox="1"/>
          <p:nvPr/>
        </p:nvSpPr>
        <p:spPr>
          <a:xfrm>
            <a:off x="6455664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  Explore (EDA)</a:t>
            </a:r>
            <a:endParaRPr lang="en-US" sz="2000" dirty="0"/>
          </a:p>
        </p:txBody>
      </p:sp>
      <p:sp>
        <p:nvSpPr>
          <p:cNvPr id="18" name="Step text 3"/>
          <p:cNvSpPr txBox="1"/>
          <p:nvPr/>
        </p:nvSpPr>
        <p:spPr>
          <a:xfrm>
            <a:off x="6455664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Yearly trends, year-over-year change, injury comparison and correlation heatmap.</a:t>
            </a:r>
            <a:endParaRPr lang="en-US" sz="1400" dirty="0"/>
          </a:p>
        </p:txBody>
      </p:sp>
      <p:sp>
        <p:nvSpPr>
          <p:cNvPr id="19" name="Step card 4"/>
          <p:cNvSpPr/>
          <p:nvPr/>
        </p:nvSpPr>
        <p:spPr>
          <a:xfrm>
            <a:off x="8997696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tep icon circle 4"/>
          <p:cNvSpPr/>
          <p:nvPr/>
        </p:nvSpPr>
        <p:spPr>
          <a:xfrm>
            <a:off x="9272016" y="201168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1" name="Step icon 4" descr="4  Repo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194560"/>
            <a:ext cx="365760" cy="365760"/>
          </a:xfrm>
          <a:prstGeom prst="rect">
            <a:avLst/>
          </a:prstGeom>
        </p:spPr>
      </p:pic>
      <p:sp>
        <p:nvSpPr>
          <p:cNvPr id="22" name="Step title 4"/>
          <p:cNvSpPr txBox="1"/>
          <p:nvPr/>
        </p:nvSpPr>
        <p:spPr>
          <a:xfrm>
            <a:off x="9272016" y="2971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  Report</a:t>
            </a:r>
            <a:endParaRPr lang="en-US" sz="2000" dirty="0"/>
          </a:p>
        </p:txBody>
      </p:sp>
      <p:sp>
        <p:nvSpPr>
          <p:cNvPr id="23" name="Step text 4"/>
          <p:cNvSpPr txBox="1"/>
          <p:nvPr/>
        </p:nvSpPr>
        <p:spPr>
          <a:xfrm>
            <a:off x="9272016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KPI cards, trend charts, severity breakdown and a year slicer in Power BI.</a:t>
            </a:r>
            <a:endParaRPr lang="en-US" sz="1400" dirty="0"/>
          </a:p>
        </p:txBody>
      </p:sp>
      <p:sp>
        <p:nvSpPr>
          <p:cNvPr id="24" name="Tools strip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ools text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TOOLS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Google Colab notebook (pandas, NumPy, Matplotlib)   •   Microsoft Power BI Desktop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Dataset &amp; Key Fields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One row per year, 28 rows and 11 columns (10 analytical fields plus a record id).</a:t>
            </a:r>
            <a:endParaRPr lang="en-US" sz="1400" dirty="0"/>
          </a:p>
        </p:txBody>
      </p:sp>
      <p:sp>
        <p:nvSpPr>
          <p:cNvPr id="4" name="Profile card"/>
          <p:cNvSpPr/>
          <p:nvPr/>
        </p:nvSpPr>
        <p:spPr>
          <a:xfrm>
            <a:off x="548640" y="1554480"/>
            <a:ext cx="3566160" cy="461772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Header DATASET PROFILE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DATASET PROFILE</a:t>
            </a:r>
            <a:endParaRPr lang="en-US" sz="1200" dirty="0"/>
          </a:p>
        </p:txBody>
      </p:sp>
      <p:sp>
        <p:nvSpPr>
          <p:cNvPr id="6" name="Profile bullets"/>
          <p:cNvSpPr txBox="1"/>
          <p:nvPr/>
        </p:nvSpPr>
        <p:spPr>
          <a:xfrm>
            <a:off x="822960" y="2194560"/>
            <a:ext cx="3063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28 annual rows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Years 1998 to 2025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11 columns, all integers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Counts of accidents, people injured or killed, and people involved</a:t>
            </a:r>
            <a:endParaRPr lang="en-US" sz="1500" dirty="0"/>
          </a:p>
        </p:txBody>
      </p:sp>
      <p:graphicFrame>
        <p:nvGraphicFramePr>
          <p:cNvPr id="5" name="Field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554480"/>
          <a:ext cx="725119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850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626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626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D4B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YEAR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Time dimension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Total Accidents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Overall accident count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Fatal Accidents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Accidents involving deaths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Fatal Killed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People killed in fatal accidents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Grievous Injury - Accidents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Accidents with grievous injury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Grievous Injurty - Injured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People grievously injured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Minor Injury - Accidents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Accidents with minor injury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Minor Injury - Injured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People with minor injuries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Non Injury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Accidents with no injury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Total number of persons involved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</a:rPr>
                        <a:t>People involved in accidents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Data Quality Checks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What the notebook confirmed, and what to verify before publishing conclusions.</a:t>
            </a:r>
            <a:endParaRPr lang="en-US" sz="1400" dirty="0"/>
          </a:p>
        </p:txBody>
      </p:sp>
      <p:sp>
        <p:nvSpPr>
          <p:cNvPr id="4" name="Passed card"/>
          <p:cNvSpPr/>
          <p:nvPr/>
        </p:nvSpPr>
        <p:spPr>
          <a:xfrm>
            <a:off x="548640" y="1554480"/>
            <a:ext cx="4937760" cy="4617720"/>
          </a:xfrm>
          <a:prstGeom prst="roundRect">
            <a:avLst>
              <a:gd name="adj" fmla="val 23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Header CHECKS PASSED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CHECKS PASSED</a:t>
            </a:r>
            <a:endParaRPr lang="en-US" sz="1200" dirty="0"/>
          </a:p>
        </p:txBody>
      </p:sp>
      <p:pic>
        <p:nvPicPr>
          <p:cNvPr id="6" name="Pass icon 1" descr="Pas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329184" cy="329184"/>
          </a:xfrm>
          <a:prstGeom prst="rect">
            <a:avLst/>
          </a:prstGeom>
        </p:spPr>
      </p:pic>
      <p:sp>
        <p:nvSpPr>
          <p:cNvPr id="7" name="Pass text 1"/>
          <p:cNvSpPr txBox="1"/>
          <p:nvPr/>
        </p:nvSpPr>
        <p:spPr>
          <a:xfrm>
            <a:off x="132588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Shape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28 rows × 11 columns</a:t>
            </a:r>
            <a:endParaRPr lang="en-US" sz="1400" dirty="0"/>
          </a:p>
        </p:txBody>
      </p:sp>
      <p:pic>
        <p:nvPicPr>
          <p:cNvPr id="8" name="Pass icon 2" descr="Pass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63240"/>
            <a:ext cx="329184" cy="329184"/>
          </a:xfrm>
          <a:prstGeom prst="rect">
            <a:avLst/>
          </a:prstGeom>
        </p:spPr>
      </p:pic>
      <p:sp>
        <p:nvSpPr>
          <p:cNvPr id="9" name="Pass text 2"/>
          <p:cNvSpPr txBox="1"/>
          <p:nvPr/>
        </p:nvSpPr>
        <p:spPr>
          <a:xfrm>
            <a:off x="1325880" y="3017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Missing values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None in any column</a:t>
            </a:r>
            <a:endParaRPr lang="en-US" sz="1400" dirty="0"/>
          </a:p>
        </p:txBody>
      </p:sp>
      <p:pic>
        <p:nvPicPr>
          <p:cNvPr id="10" name="Pass icon 3" descr="Pass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329184" cy="329184"/>
          </a:xfrm>
          <a:prstGeom prst="rect">
            <a:avLst/>
          </a:prstGeom>
        </p:spPr>
      </p:pic>
      <p:sp>
        <p:nvSpPr>
          <p:cNvPr id="11" name="Pass text 3"/>
          <p:cNvSpPr txBox="1"/>
          <p:nvPr/>
        </p:nvSpPr>
        <p:spPr>
          <a:xfrm>
            <a:off x="1325880" y="3794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Duplicate rows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0</a:t>
            </a:r>
            <a:endParaRPr lang="en-US" sz="1400" dirty="0"/>
          </a:p>
        </p:txBody>
      </p:sp>
      <p:pic>
        <p:nvPicPr>
          <p:cNvPr id="12" name="Pass icon 4" descr="Pass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17720"/>
            <a:ext cx="329184" cy="329184"/>
          </a:xfrm>
          <a:prstGeom prst="rect">
            <a:avLst/>
          </a:prstGeom>
        </p:spPr>
      </p:pic>
      <p:sp>
        <p:nvSpPr>
          <p:cNvPr id="13" name="Pass text 4"/>
          <p:cNvSpPr txBox="1"/>
          <p:nvPr/>
        </p:nvSpPr>
        <p:spPr>
          <a:xfrm>
            <a:off x="1325880" y="4572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Duplicate years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0 (each year appears once)</a:t>
            </a:r>
            <a:endParaRPr lang="en-US" sz="1400" dirty="0"/>
          </a:p>
        </p:txBody>
      </p:sp>
      <p:pic>
        <p:nvPicPr>
          <p:cNvPr id="14" name="Pass icon 5" descr="Pass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94960"/>
            <a:ext cx="329184" cy="329184"/>
          </a:xfrm>
          <a:prstGeom prst="rect">
            <a:avLst/>
          </a:prstGeom>
        </p:spPr>
      </p:pic>
      <p:sp>
        <p:nvSpPr>
          <p:cNvPr id="15" name="Pass text 5"/>
          <p:cNvSpPr txBox="1"/>
          <p:nvPr/>
        </p:nvSpPr>
        <p:spPr>
          <a:xfrm>
            <a:off x="1325880" y="5349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Negative values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None</a:t>
            </a:r>
            <a:endParaRPr lang="en-US" sz="1400" dirty="0"/>
          </a:p>
        </p:txBody>
      </p:sp>
      <p:sp>
        <p:nvSpPr>
          <p:cNvPr id="16" name="Watch-outs card"/>
          <p:cNvSpPr/>
          <p:nvPr/>
        </p:nvSpPr>
        <p:spPr>
          <a:xfrm>
            <a:off x="5760720" y="1554480"/>
            <a:ext cx="5879592" cy="4617720"/>
          </a:xfrm>
          <a:prstGeom prst="roundRect">
            <a:avLst>
              <a:gd name="adj" fmla="val 23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Header WATCH-OUTS"/>
          <p:cNvSpPr txBox="1"/>
          <p:nvPr/>
        </p:nvSpPr>
        <p:spPr>
          <a:xfrm>
            <a:off x="60350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WATCH-OUTS</a:t>
            </a:r>
            <a:endParaRPr lang="en-US" sz="1200" dirty="0"/>
          </a:p>
        </p:txBody>
      </p:sp>
      <p:pic>
        <p:nvPicPr>
          <p:cNvPr id="18" name="Warn icon 1" descr="Warn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240280"/>
            <a:ext cx="329184" cy="329184"/>
          </a:xfrm>
          <a:prstGeom prst="rect">
            <a:avLst/>
          </a:prstGeom>
        </p:spPr>
      </p:pic>
      <p:sp>
        <p:nvSpPr>
          <p:cNvPr id="19" name="Warn text 1"/>
          <p:cNvSpPr txBox="1"/>
          <p:nvPr/>
        </p:nvSpPr>
        <p:spPr>
          <a:xfrm>
            <a:off x="6537960" y="21945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2013 category totals do not add 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Fatal + grievous + minor + non-injury = 9,705, but Total Accidents = 9,710.</a:t>
            </a:r>
            <a:endParaRPr lang="en-US" sz="1300" dirty="0"/>
          </a:p>
        </p:txBody>
      </p:sp>
      <p:pic>
        <p:nvPicPr>
          <p:cNvPr id="20" name="Warn icon 2" descr="Warn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3218688"/>
            <a:ext cx="329184" cy="329184"/>
          </a:xfrm>
          <a:prstGeom prst="rect">
            <a:avLst/>
          </a:prstGeom>
        </p:spPr>
      </p:pic>
      <p:sp>
        <p:nvSpPr>
          <p:cNvPr id="21" name="Warn text 2"/>
          <p:cNvSpPr txBox="1"/>
          <p:nvPr/>
        </p:nvSpPr>
        <p:spPr>
          <a:xfrm>
            <a:off x="6537960" y="31729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Grievous-injury counts jump sharply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87 accidents in 1999, 1,470 in 2010, 4,332 in 2018; likely a recording or definition change.</a:t>
            </a:r>
            <a:endParaRPr lang="en-US" sz="1300" dirty="0"/>
          </a:p>
        </p:txBody>
      </p:sp>
      <p:pic>
        <p:nvPicPr>
          <p:cNvPr id="22" name="Warn icon 3" descr="Warni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4197096"/>
            <a:ext cx="329184" cy="329184"/>
          </a:xfrm>
          <a:prstGeom prst="rect">
            <a:avLst/>
          </a:prstGeom>
        </p:spPr>
      </p:pic>
      <p:sp>
        <p:nvSpPr>
          <p:cNvPr id="23" name="Warn text 3"/>
          <p:cNvSpPr txBox="1"/>
          <p:nvPr/>
        </p:nvSpPr>
        <p:spPr>
          <a:xfrm>
            <a:off x="6537960" y="4151376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Persons involved below accident 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Happens in 2008, 2009, 2010 and 2015; confirm how the source defines this field.</a:t>
            </a:r>
            <a:endParaRPr lang="en-US" sz="1300" dirty="0"/>
          </a:p>
        </p:txBody>
      </p:sp>
      <p:pic>
        <p:nvPicPr>
          <p:cNvPr id="24" name="Warn icon 4" descr="Warni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5175504"/>
            <a:ext cx="329184" cy="329184"/>
          </a:xfrm>
          <a:prstGeom prst="rect">
            <a:avLst/>
          </a:prstGeom>
        </p:spPr>
      </p:pic>
      <p:sp>
        <p:nvSpPr>
          <p:cNvPr id="25" name="Warn text 4"/>
          <p:cNvSpPr txBox="1"/>
          <p:nvPr/>
        </p:nvSpPr>
        <p:spPr>
          <a:xfrm>
            <a:off x="6537960" y="5129784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Column header typo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“Grievous Injurty” should be corrected before building the Power BI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Accidents Peaked in 2013, Then Fell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Total accidents per year, with headline statistics from the notebook.</a:t>
            </a:r>
            <a:endParaRPr lang="en-US" sz="1400" dirty="0"/>
          </a:p>
        </p:txBody>
      </p:sp>
      <p:sp>
        <p:nvSpPr>
          <p:cNvPr id="4" name="KPI avg"/>
          <p:cNvSpPr/>
          <p:nvPr/>
        </p:nvSpPr>
        <p:spPr>
          <a:xfrm>
            <a:off x="548640" y="155448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KPI avg label"/>
          <p:cNvSpPr txBox="1"/>
          <p:nvPr/>
        </p:nvSpPr>
        <p:spPr>
          <a:xfrm>
            <a:off x="777240" y="1691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AVERAGE / YEAR</a:t>
            </a:r>
            <a:endParaRPr lang="en-US" sz="1100" dirty="0"/>
          </a:p>
        </p:txBody>
      </p:sp>
      <p:sp>
        <p:nvSpPr>
          <p:cNvPr id="6" name="KPI avg value"/>
          <p:cNvSpPr txBox="1"/>
          <p:nvPr/>
        </p:nvSpPr>
        <p:spPr>
          <a:xfrm>
            <a:off x="77724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5,903</a:t>
            </a:r>
            <a:endParaRPr lang="en-US" sz="3200" dirty="0"/>
          </a:p>
        </p:txBody>
      </p:sp>
      <p:sp>
        <p:nvSpPr>
          <p:cNvPr id="7" name="KPI avg note"/>
          <p:cNvSpPr txBox="1"/>
          <p:nvPr/>
        </p:nvSpPr>
        <p:spPr>
          <a:xfrm>
            <a:off x="777240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5,903.18 exactly</a:t>
            </a:r>
            <a:endParaRPr lang="en-US" sz="1200" dirty="0"/>
          </a:p>
        </p:txBody>
      </p:sp>
      <p:sp>
        <p:nvSpPr>
          <p:cNvPr id="8" name="KPI median"/>
          <p:cNvSpPr/>
          <p:nvPr/>
        </p:nvSpPr>
        <p:spPr>
          <a:xfrm>
            <a:off x="3364992" y="155448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KPI median label"/>
          <p:cNvSpPr txBox="1"/>
          <p:nvPr/>
        </p:nvSpPr>
        <p:spPr>
          <a:xfrm>
            <a:off x="3593592" y="1691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MEDIAN / YEAR</a:t>
            </a:r>
            <a:endParaRPr lang="en-US" sz="1100" dirty="0"/>
          </a:p>
        </p:txBody>
      </p:sp>
      <p:sp>
        <p:nvSpPr>
          <p:cNvPr id="10" name="KPI median value"/>
          <p:cNvSpPr txBox="1"/>
          <p:nvPr/>
        </p:nvSpPr>
        <p:spPr>
          <a:xfrm>
            <a:off x="3593592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5,184.5</a:t>
            </a:r>
            <a:endParaRPr lang="en-US" sz="3200" dirty="0"/>
          </a:p>
        </p:txBody>
      </p:sp>
      <p:sp>
        <p:nvSpPr>
          <p:cNvPr id="11" name="KPI median note"/>
          <p:cNvSpPr txBox="1"/>
          <p:nvPr/>
        </p:nvSpPr>
        <p:spPr>
          <a:xfrm>
            <a:off x="3593592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Half the years are below this</a:t>
            </a:r>
            <a:endParaRPr lang="en-US" sz="1200" dirty="0"/>
          </a:p>
        </p:txBody>
      </p:sp>
      <p:sp>
        <p:nvSpPr>
          <p:cNvPr id="12" name="KPI high"/>
          <p:cNvSpPr/>
          <p:nvPr/>
        </p:nvSpPr>
        <p:spPr>
          <a:xfrm>
            <a:off x="6181344" y="155448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KPI high label"/>
          <p:cNvSpPr txBox="1"/>
          <p:nvPr/>
        </p:nvSpPr>
        <p:spPr>
          <a:xfrm>
            <a:off x="6409944" y="1691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HIGHEST YEAR</a:t>
            </a:r>
            <a:endParaRPr lang="en-US" sz="1100" dirty="0"/>
          </a:p>
        </p:txBody>
      </p:sp>
      <p:sp>
        <p:nvSpPr>
          <p:cNvPr id="14" name="KPI high value"/>
          <p:cNvSpPr txBox="1"/>
          <p:nvPr/>
        </p:nvSpPr>
        <p:spPr>
          <a:xfrm>
            <a:off x="6409944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2013</a:t>
            </a:r>
            <a:endParaRPr lang="en-US" sz="3200" dirty="0"/>
          </a:p>
        </p:txBody>
      </p:sp>
      <p:sp>
        <p:nvSpPr>
          <p:cNvPr id="15" name="KPI high note"/>
          <p:cNvSpPr txBox="1"/>
          <p:nvPr/>
        </p:nvSpPr>
        <p:spPr>
          <a:xfrm>
            <a:off x="6409944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9,710 accidents</a:t>
            </a:r>
            <a:endParaRPr lang="en-US" sz="1200" dirty="0"/>
          </a:p>
        </p:txBody>
      </p:sp>
      <p:sp>
        <p:nvSpPr>
          <p:cNvPr id="16" name="KPI low"/>
          <p:cNvSpPr/>
          <p:nvPr/>
        </p:nvSpPr>
        <p:spPr>
          <a:xfrm>
            <a:off x="8997696" y="155448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KPI low label"/>
          <p:cNvSpPr txBox="1"/>
          <p:nvPr/>
        </p:nvSpPr>
        <p:spPr>
          <a:xfrm>
            <a:off x="9226296" y="1691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LOWEST YEAR</a:t>
            </a:r>
            <a:endParaRPr lang="en-US" sz="1100" dirty="0"/>
          </a:p>
        </p:txBody>
      </p:sp>
      <p:sp>
        <p:nvSpPr>
          <p:cNvPr id="18" name="KPI low value"/>
          <p:cNvSpPr txBox="1"/>
          <p:nvPr/>
        </p:nvSpPr>
        <p:spPr>
          <a:xfrm>
            <a:off x="9226296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2022</a:t>
            </a:r>
            <a:endParaRPr lang="en-US" sz="3200" dirty="0"/>
          </a:p>
        </p:txBody>
      </p:sp>
      <p:sp>
        <p:nvSpPr>
          <p:cNvPr id="19" name="KPI low note"/>
          <p:cNvSpPr txBox="1"/>
          <p:nvPr/>
        </p:nvSpPr>
        <p:spPr>
          <a:xfrm>
            <a:off x="9226296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3,453 accidents</a:t>
            </a:r>
            <a:endParaRPr lang="en-US" sz="1200" dirty="0"/>
          </a:p>
        </p:txBody>
      </p:sp>
      <p:sp>
        <p:nvSpPr>
          <p:cNvPr id="20" name="Trend chart card"/>
          <p:cNvSpPr/>
          <p:nvPr/>
        </p:nvSpPr>
        <p:spPr>
          <a:xfrm>
            <a:off x="548640" y="3063240"/>
            <a:ext cx="11091672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731520" y="3154680"/>
          <a:ext cx="1072591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Year-over-Year Change in Accidents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Percentage change from the previous year; red bars are decreases.</a:t>
            </a:r>
            <a:endParaRPr lang="en-US" sz="1400" dirty="0"/>
          </a:p>
        </p:txBody>
      </p:sp>
      <p:sp>
        <p:nvSpPr>
          <p:cNvPr id="4" name="YoY chart card"/>
          <p:cNvSpPr/>
          <p:nvPr/>
        </p:nvSpPr>
        <p:spPr>
          <a:xfrm>
            <a:off x="548640" y="1554480"/>
            <a:ext cx="7315200" cy="4617720"/>
          </a:xfrm>
          <a:prstGeom prst="roundRect">
            <a:avLst>
              <a:gd name="adj" fmla="val 23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645920"/>
          <a:ext cx="70408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ise card"/>
          <p:cNvSpPr/>
          <p:nvPr/>
        </p:nvSpPr>
        <p:spPr>
          <a:xfrm>
            <a:off x="8138160" y="1554480"/>
            <a:ext cx="3502152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Rise text"/>
          <p:cNvSpPr txBox="1"/>
          <p:nvPr/>
        </p:nvSpPr>
        <p:spPr>
          <a:xfrm>
            <a:off x="8366760" y="1645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BIGGEST RISE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2012: +47.2%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+3,097 accidents vs 2011</a:t>
            </a:r>
            <a:endParaRPr lang="en-US" sz="1100" dirty="0"/>
          </a:p>
        </p:txBody>
      </p:sp>
      <p:sp>
        <p:nvSpPr>
          <p:cNvPr id="8" name="Fall card"/>
          <p:cNvSpPr/>
          <p:nvPr/>
        </p:nvSpPr>
        <p:spPr>
          <a:xfrm>
            <a:off x="8138160" y="2743200"/>
            <a:ext cx="3502152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Fall text"/>
          <p:cNvSpPr txBox="1"/>
          <p:nvPr/>
        </p:nvSpPr>
        <p:spPr>
          <a:xfrm>
            <a:off x="8366760" y="2834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BIGGEST FALL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2020: −36.2%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−2,491 accidents vs 2019</a:t>
            </a:r>
            <a:endParaRPr lang="en-US" sz="1100" dirty="0"/>
          </a:p>
        </p:txBody>
      </p:sp>
      <p:sp>
        <p:nvSpPr>
          <p:cNvPr id="10" name="Period card"/>
          <p:cNvSpPr/>
          <p:nvPr/>
        </p:nvSpPr>
        <p:spPr>
          <a:xfrm>
            <a:off x="8138160" y="3931920"/>
            <a:ext cx="3502152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Header AVG ACCIDENTS / YEAR"/>
          <p:cNvSpPr txBox="1"/>
          <p:nvPr/>
        </p:nvSpPr>
        <p:spPr>
          <a:xfrm>
            <a:off x="836676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AVG ACCIDENTS / YEAR</a:t>
            </a:r>
            <a:endParaRPr lang="en-US" sz="1200" dirty="0"/>
          </a:p>
        </p:txBody>
      </p:sp>
      <p:sp>
        <p:nvSpPr>
          <p:cNvPr id="12" name="Period label 1"/>
          <p:cNvSpPr txBox="1"/>
          <p:nvPr/>
        </p:nvSpPr>
        <p:spPr>
          <a:xfrm>
            <a:off x="8366760" y="4480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1998–2005</a:t>
            </a:r>
            <a:endParaRPr lang="en-US" sz="1400" dirty="0"/>
          </a:p>
        </p:txBody>
      </p:sp>
      <p:sp>
        <p:nvSpPr>
          <p:cNvPr id="13" name="Period value 1"/>
          <p:cNvSpPr txBox="1"/>
          <p:nvPr/>
        </p:nvSpPr>
        <p:spPr>
          <a:xfrm>
            <a:off x="9966960" y="4480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4,733</a:t>
            </a:r>
            <a:endParaRPr lang="en-US" sz="1600" dirty="0"/>
          </a:p>
        </p:txBody>
      </p:sp>
      <p:sp>
        <p:nvSpPr>
          <p:cNvPr id="14" name="Period label 2"/>
          <p:cNvSpPr txBox="1"/>
          <p:nvPr/>
        </p:nvSpPr>
        <p:spPr>
          <a:xfrm>
            <a:off x="8366760" y="4892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2006–2011</a:t>
            </a:r>
            <a:endParaRPr lang="en-US" sz="1400" dirty="0"/>
          </a:p>
        </p:txBody>
      </p:sp>
      <p:sp>
        <p:nvSpPr>
          <p:cNvPr id="15" name="Period value 2"/>
          <p:cNvSpPr txBox="1"/>
          <p:nvPr/>
        </p:nvSpPr>
        <p:spPr>
          <a:xfrm>
            <a:off x="9966960" y="4892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6,162</a:t>
            </a:r>
            <a:endParaRPr lang="en-US" sz="1600" dirty="0"/>
          </a:p>
        </p:txBody>
      </p:sp>
      <p:sp>
        <p:nvSpPr>
          <p:cNvPr id="16" name="Period label 3"/>
          <p:cNvSpPr txBox="1"/>
          <p:nvPr/>
        </p:nvSpPr>
        <p:spPr>
          <a:xfrm>
            <a:off x="8366760" y="5303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2012–2019</a:t>
            </a:r>
            <a:endParaRPr lang="en-US" sz="1400" dirty="0"/>
          </a:p>
        </p:txBody>
      </p:sp>
      <p:sp>
        <p:nvSpPr>
          <p:cNvPr id="17" name="Period value 3"/>
          <p:cNvSpPr txBox="1"/>
          <p:nvPr/>
        </p:nvSpPr>
        <p:spPr>
          <a:xfrm>
            <a:off x="9966960" y="5303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8,258</a:t>
            </a:r>
            <a:endParaRPr lang="en-US" sz="1600" dirty="0"/>
          </a:p>
        </p:txBody>
      </p:sp>
      <p:sp>
        <p:nvSpPr>
          <p:cNvPr id="18" name="Period label 4"/>
          <p:cNvSpPr txBox="1"/>
          <p:nvPr/>
        </p:nvSpPr>
        <p:spPr>
          <a:xfrm>
            <a:off x="8366760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2020–2025</a:t>
            </a:r>
            <a:endParaRPr lang="en-US" sz="1400" dirty="0"/>
          </a:p>
        </p:txBody>
      </p:sp>
      <p:sp>
        <p:nvSpPr>
          <p:cNvPr id="19" name="Period value 4"/>
          <p:cNvSpPr txBox="1"/>
          <p:nvPr/>
        </p:nvSpPr>
        <p:spPr>
          <a:xfrm>
            <a:off x="9966960" y="5715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4,067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Fatalities by Year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Fatal accidents and people killed move almost together (correlation 0.99).</a:t>
            </a:r>
            <a:endParaRPr lang="en-US" sz="1400" dirty="0"/>
          </a:p>
        </p:txBody>
      </p:sp>
      <p:sp>
        <p:nvSpPr>
          <p:cNvPr id="4" name="Fatal chart card"/>
          <p:cNvSpPr/>
          <p:nvPr/>
        </p:nvSpPr>
        <p:spPr>
          <a:xfrm>
            <a:off x="548640" y="1554480"/>
            <a:ext cx="7315200" cy="4617720"/>
          </a:xfrm>
          <a:prstGeom prst="roundRect">
            <a:avLst>
              <a:gd name="adj" fmla="val 23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645920"/>
          <a:ext cx="70408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at avg"/>
          <p:cNvSpPr/>
          <p:nvPr/>
        </p:nvSpPr>
        <p:spPr>
          <a:xfrm>
            <a:off x="8138160" y="1554480"/>
            <a:ext cx="3502152" cy="1069848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tat avg text"/>
          <p:cNvSpPr txBox="1"/>
          <p:nvPr/>
        </p:nvSpPr>
        <p:spPr>
          <a:xfrm>
            <a:off x="8366760" y="1645920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AVERAGE PER YEAR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852 killed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Peak 1,401 (2012); low 474 (2002)</a:t>
            </a:r>
            <a:endParaRPr lang="en-US" sz="1100" dirty="0"/>
          </a:p>
        </p:txBody>
      </p:sp>
      <p:sp>
        <p:nvSpPr>
          <p:cNvPr id="8" name="Stat ratio"/>
          <p:cNvSpPr/>
          <p:nvPr/>
        </p:nvSpPr>
        <p:spPr>
          <a:xfrm>
            <a:off x="8138160" y="2743200"/>
            <a:ext cx="3502152" cy="1069848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tat ratio text"/>
          <p:cNvSpPr txBox="1"/>
          <p:nvPr/>
        </p:nvSpPr>
        <p:spPr>
          <a:xfrm>
            <a:off x="8366760" y="2834640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DEATHS PER FATAL ACCIDENT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1.04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23,864 killed in 23,024 accidents</a:t>
            </a:r>
            <a:endParaRPr lang="en-US" sz="1100" dirty="0"/>
          </a:p>
        </p:txBody>
      </p:sp>
      <p:sp>
        <p:nvSpPr>
          <p:cNvPr id="10" name="Stat share"/>
          <p:cNvSpPr/>
          <p:nvPr/>
        </p:nvSpPr>
        <p:spPr>
          <a:xfrm>
            <a:off x="8138160" y="3931920"/>
            <a:ext cx="3502152" cy="1069848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tat share text"/>
          <p:cNvSpPr txBox="1"/>
          <p:nvPr/>
        </p:nvSpPr>
        <p:spPr>
          <a:xfrm>
            <a:off x="8366760" y="4023360"/>
            <a:ext cx="3108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FATAL SHARE OF ACCIDENTS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20.8% in 2020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vs 14.4% over all years</a:t>
            </a:r>
            <a:endParaRPr lang="en-US" sz="1100" dirty="0"/>
          </a:p>
        </p:txBody>
      </p:sp>
      <p:sp>
        <p:nvSpPr>
          <p:cNvPr id="12" name="Fatal note card"/>
          <p:cNvSpPr/>
          <p:nvPr/>
        </p:nvSpPr>
        <p:spPr>
          <a:xfrm>
            <a:off x="8138160" y="5120640"/>
            <a:ext cx="3502152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Fatal note"/>
          <p:cNvSpPr txBox="1"/>
          <p:nvPr/>
        </p:nvSpPr>
        <p:spPr>
          <a:xfrm>
            <a:off x="8366760" y="5166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 2020 total accidents fell 36%, but a larger share of them were fatal.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Accident Severity Breakdown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Minor-injury accidents make up more than half of all records.</a:t>
            </a:r>
            <a:endParaRPr lang="en-US" sz="1400" dirty="0"/>
          </a:p>
        </p:txBody>
      </p:sp>
      <p:sp>
        <p:nvSpPr>
          <p:cNvPr id="4" name="Severity chart card"/>
          <p:cNvSpPr/>
          <p:nvPr/>
        </p:nvSpPr>
        <p:spPr>
          <a:xfrm>
            <a:off x="548640" y="1554480"/>
            <a:ext cx="6949440" cy="4617720"/>
          </a:xfrm>
          <a:prstGeom prst="roundRect">
            <a:avLst>
              <a:gd name="adj" fmla="val 23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645920"/>
          <a:ext cx="6675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tegory card 1"/>
          <p:cNvSpPr/>
          <p:nvPr/>
        </p:nvSpPr>
        <p:spPr>
          <a:xfrm>
            <a:off x="7772400" y="1554480"/>
            <a:ext cx="3867912" cy="1024128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ategory dot 1"/>
          <p:cNvSpPr/>
          <p:nvPr/>
        </p:nvSpPr>
        <p:spPr>
          <a:xfrm>
            <a:off x="8001000" y="192024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Category text 1"/>
          <p:cNvSpPr txBox="1"/>
          <p:nvPr/>
        </p:nvSpPr>
        <p:spPr>
          <a:xfrm>
            <a:off x="8412480" y="164592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Minor injury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90,358</a:t>
            </a:r>
            <a:endParaRPr lang="en-US" sz="1400" dirty="0"/>
          </a:p>
        </p:txBody>
      </p:sp>
      <p:sp>
        <p:nvSpPr>
          <p:cNvPr id="9" name="Category share 1"/>
          <p:cNvSpPr txBox="1"/>
          <p:nvPr/>
        </p:nvSpPr>
        <p:spPr>
          <a:xfrm>
            <a:off x="10424160" y="1645920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54.7%</a:t>
            </a:r>
            <a:endParaRPr lang="en-US" sz="2200" dirty="0"/>
          </a:p>
        </p:txBody>
      </p:sp>
      <p:sp>
        <p:nvSpPr>
          <p:cNvPr id="10" name="Category card 2"/>
          <p:cNvSpPr/>
          <p:nvPr/>
        </p:nvSpPr>
        <p:spPr>
          <a:xfrm>
            <a:off x="7772400" y="2715768"/>
            <a:ext cx="3867912" cy="1024128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Category dot 2"/>
          <p:cNvSpPr/>
          <p:nvPr/>
        </p:nvSpPr>
        <p:spPr>
          <a:xfrm>
            <a:off x="8001000" y="3081528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Category text 2"/>
          <p:cNvSpPr txBox="1"/>
          <p:nvPr/>
        </p:nvSpPr>
        <p:spPr>
          <a:xfrm>
            <a:off x="8412480" y="280720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Grievous injury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37,876</a:t>
            </a:r>
            <a:endParaRPr lang="en-US" sz="1400" dirty="0"/>
          </a:p>
        </p:txBody>
      </p:sp>
      <p:sp>
        <p:nvSpPr>
          <p:cNvPr id="13" name="Category share 2"/>
          <p:cNvSpPr txBox="1"/>
          <p:nvPr/>
        </p:nvSpPr>
        <p:spPr>
          <a:xfrm>
            <a:off x="10424160" y="2807208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22.9%</a:t>
            </a:r>
            <a:endParaRPr lang="en-US" sz="2200" dirty="0"/>
          </a:p>
        </p:txBody>
      </p:sp>
      <p:sp>
        <p:nvSpPr>
          <p:cNvPr id="14" name="Category card 3"/>
          <p:cNvSpPr/>
          <p:nvPr/>
        </p:nvSpPr>
        <p:spPr>
          <a:xfrm>
            <a:off x="7772400" y="3877056"/>
            <a:ext cx="3867912" cy="1024128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Category dot 3"/>
          <p:cNvSpPr/>
          <p:nvPr/>
        </p:nvSpPr>
        <p:spPr>
          <a:xfrm>
            <a:off x="8001000" y="4242816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Category text 3"/>
          <p:cNvSpPr txBox="1"/>
          <p:nvPr/>
        </p:nvSpPr>
        <p:spPr>
          <a:xfrm>
            <a:off x="8412480" y="396849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Fatal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23,024</a:t>
            </a:r>
            <a:endParaRPr lang="en-US" sz="1400" dirty="0"/>
          </a:p>
        </p:txBody>
      </p:sp>
      <p:sp>
        <p:nvSpPr>
          <p:cNvPr id="17" name="Category share 3"/>
          <p:cNvSpPr txBox="1"/>
          <p:nvPr/>
        </p:nvSpPr>
        <p:spPr>
          <a:xfrm>
            <a:off x="10424160" y="3968496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13.9%</a:t>
            </a:r>
            <a:endParaRPr lang="en-US" sz="2200" dirty="0"/>
          </a:p>
        </p:txBody>
      </p:sp>
      <p:sp>
        <p:nvSpPr>
          <p:cNvPr id="18" name="Category card 4"/>
          <p:cNvSpPr/>
          <p:nvPr/>
        </p:nvSpPr>
        <p:spPr>
          <a:xfrm>
            <a:off x="7772400" y="5038344"/>
            <a:ext cx="3867912" cy="1024128"/>
          </a:xfrm>
          <a:prstGeom prst="roundRect">
            <a:avLst>
              <a:gd name="adj" fmla="val 10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Category dot 4"/>
          <p:cNvSpPr/>
          <p:nvPr/>
        </p:nvSpPr>
        <p:spPr>
          <a:xfrm>
            <a:off x="8001000" y="540410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ategory text 4"/>
          <p:cNvSpPr txBox="1"/>
          <p:nvPr/>
        </p:nvSpPr>
        <p:spPr>
          <a:xfrm>
            <a:off x="8412480" y="512978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Non-injury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14,026</a:t>
            </a:r>
            <a:endParaRPr lang="en-US" sz="1400" dirty="0"/>
          </a:p>
        </p:txBody>
      </p:sp>
      <p:sp>
        <p:nvSpPr>
          <p:cNvPr id="21" name="Category share 4"/>
          <p:cNvSpPr txBox="1"/>
          <p:nvPr/>
        </p:nvSpPr>
        <p:spPr>
          <a:xfrm>
            <a:off x="10424160" y="5129784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8.5%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Injured Persons: Grievous vs Minor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Minor injuries dominated until 2016; grievous injuries led in most years after.</a:t>
            </a:r>
            <a:endParaRPr lang="en-US" sz="1400" dirty="0"/>
          </a:p>
        </p:txBody>
      </p:sp>
      <p:sp>
        <p:nvSpPr>
          <p:cNvPr id="4" name="Injury chart card"/>
          <p:cNvSpPr/>
          <p:nvPr/>
        </p:nvSpPr>
        <p:spPr>
          <a:xfrm>
            <a:off x="548640" y="1554480"/>
            <a:ext cx="7863840" cy="4617720"/>
          </a:xfrm>
          <a:prstGeom prst="roundRect">
            <a:avLst>
              <a:gd name="adj" fmla="val 23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645920"/>
          <a:ext cx="75895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Peak grievous card"/>
          <p:cNvSpPr/>
          <p:nvPr/>
        </p:nvSpPr>
        <p:spPr>
          <a:xfrm>
            <a:off x="8686800" y="1554480"/>
            <a:ext cx="2953512" cy="1069848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Peak grievous text"/>
          <p:cNvSpPr txBox="1"/>
          <p:nvPr/>
        </p:nvSpPr>
        <p:spPr>
          <a:xfrm>
            <a:off x="8915400" y="1645920"/>
            <a:ext cx="2560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PEAK GRIEVOUS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5,039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 2018</a:t>
            </a:r>
            <a:endParaRPr lang="en-US" sz="1100" dirty="0"/>
          </a:p>
        </p:txBody>
      </p:sp>
      <p:sp>
        <p:nvSpPr>
          <p:cNvPr id="8" name="Peak minor card"/>
          <p:cNvSpPr/>
          <p:nvPr/>
        </p:nvSpPr>
        <p:spPr>
          <a:xfrm>
            <a:off x="8686800" y="2761488"/>
            <a:ext cx="2953512" cy="1069848"/>
          </a:xfrm>
          <a:prstGeom prst="roundRect">
            <a:avLst>
              <a:gd name="adj" fmla="val 102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Peak minor text"/>
          <p:cNvSpPr txBox="1"/>
          <p:nvPr/>
        </p:nvSpPr>
        <p:spPr>
          <a:xfrm>
            <a:off x="8915400" y="2852928"/>
            <a:ext cx="2560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PEAK MINOR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7,916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 2012</a:t>
            </a:r>
            <a:endParaRPr lang="en-US" sz="1100" dirty="0"/>
          </a:p>
        </p:txBody>
      </p:sp>
      <p:sp>
        <p:nvSpPr>
          <p:cNvPr id="10" name="Caution card"/>
          <p:cNvSpPr/>
          <p:nvPr/>
        </p:nvSpPr>
        <p:spPr>
          <a:xfrm>
            <a:off x="8686800" y="3968496"/>
            <a:ext cx="2953512" cy="2203704"/>
          </a:xfrm>
          <a:prstGeom prst="roundRect">
            <a:avLst>
              <a:gd name="adj" fmla="val 49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Header CAUTION"/>
          <p:cNvSpPr txBox="1"/>
          <p:nvPr/>
        </p:nvSpPr>
        <p:spPr>
          <a:xfrm>
            <a:off x="891540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CAUTION</a:t>
            </a:r>
            <a:endParaRPr lang="en-US" sz="1200" dirty="0"/>
          </a:p>
        </p:txBody>
      </p:sp>
      <p:sp>
        <p:nvSpPr>
          <p:cNvPr id="12" name="Caution text"/>
          <p:cNvSpPr txBox="1"/>
          <p:nvPr/>
        </p:nvSpPr>
        <p:spPr>
          <a:xfrm>
            <a:off x="8915400" y="448056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Grievous injuries exceed minor ones in 2017–2021 and 2023–2024. Swings this large may reflect changes in how injuries were recorded.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Moves With Total Accidents?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Correlation of each measure with Total Accidents (28 yearly values).</a:t>
            </a:r>
            <a:endParaRPr lang="en-US" sz="1400" dirty="0"/>
          </a:p>
        </p:txBody>
      </p:sp>
      <p:sp>
        <p:nvSpPr>
          <p:cNvPr id="4" name="Correlation chart card"/>
          <p:cNvSpPr/>
          <p:nvPr/>
        </p:nvSpPr>
        <p:spPr>
          <a:xfrm>
            <a:off x="548640" y="1554480"/>
            <a:ext cx="6949440" cy="4617720"/>
          </a:xfrm>
          <a:prstGeom prst="roundRect">
            <a:avLst>
              <a:gd name="adj" fmla="val 23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645920"/>
          <a:ext cx="6675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akeaway card 1"/>
          <p:cNvSpPr/>
          <p:nvPr/>
        </p:nvSpPr>
        <p:spPr>
          <a:xfrm>
            <a:off x="7772400" y="1554480"/>
            <a:ext cx="3867912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akeaway value 1"/>
          <p:cNvSpPr txBox="1"/>
          <p:nvPr/>
        </p:nvSpPr>
        <p:spPr>
          <a:xfrm>
            <a:off x="7955280" y="164592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0.99</a:t>
            </a:r>
            <a:endParaRPr lang="en-US" sz="2600" dirty="0"/>
          </a:p>
        </p:txBody>
      </p:sp>
      <p:sp>
        <p:nvSpPr>
          <p:cNvPr id="8" name="Takeaway text 1"/>
          <p:cNvSpPr txBox="1"/>
          <p:nvPr/>
        </p:nvSpPr>
        <p:spPr>
          <a:xfrm>
            <a:off x="9144000" y="1645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Fatal accidents and people killed rise and fall together.</a:t>
            </a:r>
            <a:endParaRPr lang="en-US" sz="1200" dirty="0"/>
          </a:p>
        </p:txBody>
      </p:sp>
      <p:sp>
        <p:nvSpPr>
          <p:cNvPr id="9" name="Takeaway card 2"/>
          <p:cNvSpPr/>
          <p:nvPr/>
        </p:nvSpPr>
        <p:spPr>
          <a:xfrm>
            <a:off x="7772400" y="2834640"/>
            <a:ext cx="3867912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akeaway value 2"/>
          <p:cNvSpPr txBox="1"/>
          <p:nvPr/>
        </p:nvSpPr>
        <p:spPr>
          <a:xfrm>
            <a:off x="7955280" y="292608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0.97</a:t>
            </a:r>
            <a:endParaRPr lang="en-US" sz="2600" dirty="0"/>
          </a:p>
        </p:txBody>
      </p:sp>
      <p:sp>
        <p:nvSpPr>
          <p:cNvPr id="11" name="Takeaway text 2"/>
          <p:cNvSpPr txBox="1"/>
          <p:nvPr/>
        </p:nvSpPr>
        <p:spPr>
          <a:xfrm>
            <a:off x="9144000" y="2926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Total accidents track persons involved almost exactly.</a:t>
            </a:r>
            <a:endParaRPr lang="en-US" sz="1200" dirty="0"/>
          </a:p>
        </p:txBody>
      </p:sp>
      <p:sp>
        <p:nvSpPr>
          <p:cNvPr id="12" name="Takeaway card 3"/>
          <p:cNvSpPr/>
          <p:nvPr/>
        </p:nvSpPr>
        <p:spPr>
          <a:xfrm>
            <a:off x="7772400" y="4114800"/>
            <a:ext cx="3867912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akeaway value 3"/>
          <p:cNvSpPr txBox="1"/>
          <p:nvPr/>
        </p:nvSpPr>
        <p:spPr>
          <a:xfrm>
            <a:off x="7955280" y="420624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−0.56</a:t>
            </a:r>
            <a:endParaRPr lang="en-US" sz="2600" dirty="0"/>
          </a:p>
        </p:txBody>
      </p:sp>
      <p:sp>
        <p:nvSpPr>
          <p:cNvPr id="14" name="Takeaway text 3"/>
          <p:cNvSpPr txBox="1"/>
          <p:nvPr/>
        </p:nvSpPr>
        <p:spPr>
          <a:xfrm>
            <a:off x="9144000" y="4206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Grievous and minor-injury accidents move in opposite directions, possibly a recording shift rather than a real link.</a:t>
            </a:r>
            <a:endParaRPr lang="en-US" sz="1200" dirty="0"/>
          </a:p>
        </p:txBody>
      </p:sp>
      <p:sp>
        <p:nvSpPr>
          <p:cNvPr id="15" name="Correlation note card"/>
          <p:cNvSpPr/>
          <p:nvPr/>
        </p:nvSpPr>
        <p:spPr>
          <a:xfrm>
            <a:off x="7772400" y="5394960"/>
            <a:ext cx="3867912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orrelation note"/>
          <p:cNvSpPr txBox="1"/>
          <p:nvPr/>
        </p:nvSpPr>
        <p:spPr>
          <a:xfrm>
            <a:off x="7955280" y="54406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Correlation is not causation, and 28 points is a small sample.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Power BI Dashboard Layout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Planned layout for a clean, readable overview.</a:t>
            </a:r>
            <a:endParaRPr lang="en-US" sz="1400" dirty="0"/>
          </a:p>
        </p:txBody>
      </p:sp>
      <p:sp>
        <p:nvSpPr>
          <p:cNvPr id="4" name="Dashboard frame"/>
          <p:cNvSpPr/>
          <p:nvPr/>
        </p:nvSpPr>
        <p:spPr>
          <a:xfrm>
            <a:off x="548640" y="1554480"/>
            <a:ext cx="7680960" cy="4617720"/>
          </a:xfrm>
          <a:prstGeom prst="roundRect">
            <a:avLst>
              <a:gd name="adj" fmla="val 23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Dashboard title"/>
          <p:cNvSpPr txBox="1"/>
          <p:nvPr/>
        </p:nvSpPr>
        <p:spPr>
          <a:xfrm>
            <a:off x="8229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TRAFFIC ACCIDENT ANALYSIS</a:t>
            </a:r>
            <a:endParaRPr lang="en-US" sz="1100" dirty="0"/>
          </a:p>
        </p:txBody>
      </p:sp>
      <p:sp>
        <p:nvSpPr>
          <p:cNvPr id="6" name="Mock KPI 1"/>
          <p:cNvSpPr/>
          <p:nvPr/>
        </p:nvSpPr>
        <p:spPr>
          <a:xfrm>
            <a:off x="822960" y="2057400"/>
            <a:ext cx="2194560" cy="960120"/>
          </a:xfrm>
          <a:prstGeom prst="roundRect">
            <a:avLst>
              <a:gd name="adj" fmla="val 7619"/>
            </a:avLst>
          </a:prstGeom>
          <a:solidFill>
            <a:schemeClr val="bg1">
              <a:alpha val="6000"/>
            </a:schemeClr>
          </a:solidFill>
          <a:ln w="9525">
            <a:solidFill>
              <a:schemeClr val="bg2">
                <a:alpha val="40000"/>
              </a:schemeClr>
            </a:solidFill>
            <a:prstDash val="solid"/>
          </a:ln>
        </p:spPr>
      </p:sp>
      <p:sp>
        <p:nvSpPr>
          <p:cNvPr id="7" name="Mock KPI text 1"/>
          <p:cNvSpPr txBox="1"/>
          <p:nvPr/>
        </p:nvSpPr>
        <p:spPr>
          <a:xfrm>
            <a:off x="960120" y="21031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bg2"/>
                </a:solidFill>
              </a:rPr>
              <a:t>TOTAL ACCIDENTS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165,289</a:t>
            </a:r>
            <a:endParaRPr lang="en-US" sz="1000" dirty="0"/>
          </a:p>
        </p:txBody>
      </p:sp>
      <p:sp>
        <p:nvSpPr>
          <p:cNvPr id="8" name="Mock KPI 2"/>
          <p:cNvSpPr/>
          <p:nvPr/>
        </p:nvSpPr>
        <p:spPr>
          <a:xfrm>
            <a:off x="3200400" y="2057400"/>
            <a:ext cx="2194560" cy="960120"/>
          </a:xfrm>
          <a:prstGeom prst="roundRect">
            <a:avLst>
              <a:gd name="adj" fmla="val 7619"/>
            </a:avLst>
          </a:prstGeom>
          <a:solidFill>
            <a:schemeClr val="bg1">
              <a:alpha val="6000"/>
            </a:schemeClr>
          </a:solidFill>
          <a:ln w="9525">
            <a:solidFill>
              <a:schemeClr val="bg2">
                <a:alpha val="40000"/>
              </a:schemeClr>
            </a:solidFill>
            <a:prstDash val="solid"/>
          </a:ln>
        </p:spPr>
      </p:sp>
      <p:sp>
        <p:nvSpPr>
          <p:cNvPr id="9" name="Mock KPI text 2"/>
          <p:cNvSpPr txBox="1"/>
          <p:nvPr/>
        </p:nvSpPr>
        <p:spPr>
          <a:xfrm>
            <a:off x="3337560" y="21031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bg2"/>
                </a:solidFill>
              </a:rPr>
              <a:t>FATALITIES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23,864</a:t>
            </a:r>
            <a:endParaRPr lang="en-US" sz="1000" dirty="0"/>
          </a:p>
        </p:txBody>
      </p:sp>
      <p:sp>
        <p:nvSpPr>
          <p:cNvPr id="10" name="Mock KPI 3"/>
          <p:cNvSpPr/>
          <p:nvPr/>
        </p:nvSpPr>
        <p:spPr>
          <a:xfrm>
            <a:off x="5577840" y="2057400"/>
            <a:ext cx="2194560" cy="960120"/>
          </a:xfrm>
          <a:prstGeom prst="roundRect">
            <a:avLst>
              <a:gd name="adj" fmla="val 7619"/>
            </a:avLst>
          </a:prstGeom>
          <a:solidFill>
            <a:schemeClr val="bg1">
              <a:alpha val="6000"/>
            </a:schemeClr>
          </a:solidFill>
          <a:ln w="9525">
            <a:solidFill>
              <a:schemeClr val="bg2">
                <a:alpha val="40000"/>
              </a:schemeClr>
            </a:solidFill>
            <a:prstDash val="solid"/>
          </a:ln>
        </p:spPr>
      </p:sp>
      <p:sp>
        <p:nvSpPr>
          <p:cNvPr id="11" name="Mock KPI text 3"/>
          <p:cNvSpPr txBox="1"/>
          <p:nvPr/>
        </p:nvSpPr>
        <p:spPr>
          <a:xfrm>
            <a:off x="5715000" y="21031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bg2"/>
                </a:solidFill>
              </a:rPr>
              <a:t>PERSONS INVOLVED</a:t>
            </a:r>
            <a:endParaRPr lang="en-US" sz="10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179,086</a:t>
            </a:r>
            <a:endParaRPr lang="en-US" sz="1000" dirty="0"/>
          </a:p>
        </p:txBody>
      </p:sp>
      <p:sp>
        <p:nvSpPr>
          <p:cNvPr id="12" name="Mock trend panel"/>
          <p:cNvSpPr/>
          <p:nvPr/>
        </p:nvSpPr>
        <p:spPr>
          <a:xfrm>
            <a:off x="822960" y="3200400"/>
            <a:ext cx="4480560" cy="1691640"/>
          </a:xfrm>
          <a:prstGeom prst="roundRect">
            <a:avLst>
              <a:gd name="adj" fmla="val 4324"/>
            </a:avLst>
          </a:prstGeom>
          <a:solidFill>
            <a:schemeClr val="bg1">
              <a:alpha val="6000"/>
            </a:schemeClr>
          </a:solidFill>
          <a:ln w="9525">
            <a:solidFill>
              <a:schemeClr val="bg2">
                <a:alpha val="40000"/>
              </a:schemeClr>
            </a:solidFill>
            <a:prstDash val="solid"/>
          </a:ln>
        </p:spPr>
      </p:sp>
      <p:graphicFrame>
        <p:nvGraphicFramePr>
          <p:cNvPr id="13" name="Chart 0" descr=""/>
          <p:cNvGraphicFramePr/>
          <p:nvPr/>
        </p:nvGraphicFramePr>
        <p:xfrm>
          <a:off x="914400" y="3246120"/>
          <a:ext cx="42976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Mock severity panel"/>
          <p:cNvSpPr/>
          <p:nvPr/>
        </p:nvSpPr>
        <p:spPr>
          <a:xfrm>
            <a:off x="5486400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chemeClr val="bg1">
              <a:alpha val="6000"/>
            </a:schemeClr>
          </a:solidFill>
          <a:ln w="9525">
            <a:solidFill>
              <a:schemeClr val="bg2">
                <a:alpha val="40000"/>
              </a:schemeClr>
            </a:solidFill>
            <a:prstDash val="solid"/>
          </a:ln>
        </p:spPr>
      </p:sp>
      <p:graphicFrame>
        <p:nvGraphicFramePr>
          <p:cNvPr id="15" name="Chart 1" descr=""/>
          <p:cNvGraphicFramePr/>
          <p:nvPr/>
        </p:nvGraphicFramePr>
        <p:xfrm>
          <a:off x="5532120" y="3246120"/>
          <a:ext cx="23774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Mock slicer panel"/>
          <p:cNvSpPr/>
          <p:nvPr/>
        </p:nvSpPr>
        <p:spPr>
          <a:xfrm>
            <a:off x="822960" y="5074920"/>
            <a:ext cx="7132320" cy="868680"/>
          </a:xfrm>
          <a:prstGeom prst="roundRect">
            <a:avLst>
              <a:gd name="adj" fmla="val 8421"/>
            </a:avLst>
          </a:prstGeom>
          <a:solidFill>
            <a:schemeClr val="bg1">
              <a:alpha val="6000"/>
            </a:schemeClr>
          </a:solidFill>
          <a:ln w="9525">
            <a:solidFill>
              <a:schemeClr val="bg2">
                <a:alpha val="40000"/>
              </a:schemeClr>
            </a:solidFill>
            <a:prstDash val="solid"/>
          </a:ln>
        </p:spPr>
      </p:sp>
      <p:sp>
        <p:nvSpPr>
          <p:cNvPr id="17" name="Mock slicer text"/>
          <p:cNvSpPr txBox="1"/>
          <p:nvPr/>
        </p:nvSpPr>
        <p:spPr>
          <a:xfrm>
            <a:off x="1005840" y="51206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Year slicer  |  Summary table</a:t>
            </a:r>
            <a:endParaRPr lang="en-US" sz="1400" dirty="0"/>
          </a:p>
        </p:txBody>
      </p:sp>
      <p:sp>
        <p:nvSpPr>
          <p:cNvPr id="18" name="Principles card"/>
          <p:cNvSpPr/>
          <p:nvPr/>
        </p:nvSpPr>
        <p:spPr>
          <a:xfrm>
            <a:off x="8503920" y="1554480"/>
            <a:ext cx="3136392" cy="4617720"/>
          </a:xfrm>
          <a:prstGeom prst="roundRect">
            <a:avLst>
              <a:gd name="adj" fmla="val 34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Header DESIGN PRINCIPLES"/>
          <p:cNvSpPr txBox="1"/>
          <p:nvPr/>
        </p:nvSpPr>
        <p:spPr>
          <a:xfrm>
            <a:off x="87325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DESIGN PRINCIPLES</a:t>
            </a:r>
            <a:endParaRPr lang="en-US" sz="1200" dirty="0"/>
          </a:p>
        </p:txBody>
      </p:sp>
      <p:sp>
        <p:nvSpPr>
          <p:cNvPr id="20" name="Principle dot 1"/>
          <p:cNvSpPr/>
          <p:nvPr/>
        </p:nvSpPr>
        <p:spPr>
          <a:xfrm>
            <a:off x="8732520" y="231343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Principle check 1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2386584"/>
            <a:ext cx="164592" cy="164592"/>
          </a:xfrm>
          <a:prstGeom prst="rect">
            <a:avLst/>
          </a:prstGeom>
        </p:spPr>
      </p:pic>
      <p:sp>
        <p:nvSpPr>
          <p:cNvPr id="22" name="Principle text 1"/>
          <p:cNvSpPr txBox="1"/>
          <p:nvPr/>
        </p:nvSpPr>
        <p:spPr>
          <a:xfrm>
            <a:off x="91897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Clear page title</a:t>
            </a:r>
            <a:endParaRPr lang="en-US" sz="1400" dirty="0"/>
          </a:p>
        </p:txBody>
      </p:sp>
      <p:sp>
        <p:nvSpPr>
          <p:cNvPr id="23" name="Principle dot 2"/>
          <p:cNvSpPr/>
          <p:nvPr/>
        </p:nvSpPr>
        <p:spPr>
          <a:xfrm>
            <a:off x="8732520" y="29352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Principle check 2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3008376"/>
            <a:ext cx="164592" cy="164592"/>
          </a:xfrm>
          <a:prstGeom prst="rect">
            <a:avLst/>
          </a:prstGeom>
        </p:spPr>
      </p:pic>
      <p:sp>
        <p:nvSpPr>
          <p:cNvPr id="25" name="Principle text 2"/>
          <p:cNvSpPr txBox="1"/>
          <p:nvPr/>
        </p:nvSpPr>
        <p:spPr>
          <a:xfrm>
            <a:off x="9189720" y="2907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KPI cards at the top</a:t>
            </a:r>
            <a:endParaRPr lang="en-US" sz="1400" dirty="0"/>
          </a:p>
        </p:txBody>
      </p:sp>
      <p:sp>
        <p:nvSpPr>
          <p:cNvPr id="26" name="Principle dot 3"/>
          <p:cNvSpPr/>
          <p:nvPr/>
        </p:nvSpPr>
        <p:spPr>
          <a:xfrm>
            <a:off x="8732520" y="355701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Principle check 3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2" y="3630168"/>
            <a:ext cx="164592" cy="164592"/>
          </a:xfrm>
          <a:prstGeom prst="rect">
            <a:avLst/>
          </a:prstGeom>
        </p:spPr>
      </p:pic>
      <p:sp>
        <p:nvSpPr>
          <p:cNvPr id="28" name="Principle text 3"/>
          <p:cNvSpPr txBox="1"/>
          <p:nvPr/>
        </p:nvSpPr>
        <p:spPr>
          <a:xfrm>
            <a:off x="9189720" y="3529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Trend charts in the centre</a:t>
            </a:r>
            <a:endParaRPr lang="en-US" sz="1400" dirty="0"/>
          </a:p>
        </p:txBody>
      </p:sp>
      <p:sp>
        <p:nvSpPr>
          <p:cNvPr id="29" name="Principle dot 4"/>
          <p:cNvSpPr/>
          <p:nvPr/>
        </p:nvSpPr>
        <p:spPr>
          <a:xfrm>
            <a:off x="8732520" y="41788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Principle check 4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2" y="4251960"/>
            <a:ext cx="164592" cy="164592"/>
          </a:xfrm>
          <a:prstGeom prst="rect">
            <a:avLst/>
          </a:prstGeom>
        </p:spPr>
      </p:pic>
      <p:sp>
        <p:nvSpPr>
          <p:cNvPr id="31" name="Principle text 4"/>
          <p:cNvSpPr txBox="1"/>
          <p:nvPr/>
        </p:nvSpPr>
        <p:spPr>
          <a:xfrm>
            <a:off x="9189720" y="41513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Year slicer for filtering</a:t>
            </a:r>
            <a:endParaRPr lang="en-US" sz="1400" dirty="0"/>
          </a:p>
        </p:txBody>
      </p:sp>
      <p:sp>
        <p:nvSpPr>
          <p:cNvPr id="32" name="Principle dot 5"/>
          <p:cNvSpPr/>
          <p:nvPr/>
        </p:nvSpPr>
        <p:spPr>
          <a:xfrm>
            <a:off x="8732520" y="480060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Principle check 5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5672" y="4873752"/>
            <a:ext cx="164592" cy="164592"/>
          </a:xfrm>
          <a:prstGeom prst="rect">
            <a:avLst/>
          </a:prstGeom>
        </p:spPr>
      </p:pic>
      <p:sp>
        <p:nvSpPr>
          <p:cNvPr id="34" name="Principle text 5"/>
          <p:cNvSpPr txBox="1"/>
          <p:nvPr/>
        </p:nvSpPr>
        <p:spPr>
          <a:xfrm>
            <a:off x="9189720" y="4773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Consistent severity colours</a:t>
            </a:r>
            <a:endParaRPr lang="en-US" sz="1400" dirty="0"/>
          </a:p>
        </p:txBody>
      </p:sp>
      <p:sp>
        <p:nvSpPr>
          <p:cNvPr id="35" name="Principle dot 6"/>
          <p:cNvSpPr/>
          <p:nvPr/>
        </p:nvSpPr>
        <p:spPr>
          <a:xfrm>
            <a:off x="8732520" y="542239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Principle check 6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5672" y="5495544"/>
            <a:ext cx="164592" cy="164592"/>
          </a:xfrm>
          <a:prstGeom prst="rect">
            <a:avLst/>
          </a:prstGeom>
        </p:spPr>
      </p:pic>
      <p:sp>
        <p:nvSpPr>
          <p:cNvPr id="37" name="Principle text 6"/>
          <p:cNvSpPr txBox="1"/>
          <p:nvPr/>
        </p:nvSpPr>
        <p:spPr>
          <a:xfrm>
            <a:off x="9189720" y="5394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Readable labels and spacing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Findings &amp; Recommendations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Evidence for road-safety discussions, and what to do next.</a:t>
            </a:r>
            <a:endParaRPr lang="en-US" sz="1400" dirty="0"/>
          </a:p>
        </p:txBody>
      </p:sp>
      <p:sp>
        <p:nvSpPr>
          <p:cNvPr id="4" name="Findings card"/>
          <p:cNvSpPr/>
          <p:nvPr/>
        </p:nvSpPr>
        <p:spPr>
          <a:xfrm>
            <a:off x="548640" y="1554480"/>
            <a:ext cx="544068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Header WHAT THE DATA SHOWS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WHAT THE DATA SHOWS</a:t>
            </a:r>
            <a:endParaRPr lang="en-US" sz="1200" dirty="0"/>
          </a:p>
        </p:txBody>
      </p:sp>
      <p:sp>
        <p:nvSpPr>
          <p:cNvPr id="6" name="Findings bullets"/>
          <p:cNvSpPr txBox="1"/>
          <p:nvPr/>
        </p:nvSpPr>
        <p:spPr>
          <a:xfrm>
            <a:off x="822960" y="224028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Highest accidents: 2013 (9,710). Lowest: 2022 (3,453).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2012–2019 averaged 8,258 accidents a year; 2020–2025 averaged 4,067.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Fatalities peaked in 2012 (1,401); fatal share peaked in 2020 (20.8%).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Minor-injury accidents are 54.7% of all records.</a:t>
            </a:r>
            <a:endParaRPr lang="en-US" sz="1800" dirty="0"/>
          </a:p>
        </p:txBody>
      </p:sp>
      <p:sp>
        <p:nvSpPr>
          <p:cNvPr id="7" name="Recommendations card"/>
          <p:cNvSpPr/>
          <p:nvPr/>
        </p:nvSpPr>
        <p:spPr>
          <a:xfrm>
            <a:off x="6217920" y="1554480"/>
            <a:ext cx="5422392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Header RECOMMENDATIONS"/>
          <p:cNvSpPr txBox="1"/>
          <p:nvPr/>
        </p:nvSpPr>
        <p:spPr>
          <a:xfrm>
            <a:off x="64922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9" name="Recommendation bullets"/>
          <p:cNvSpPr txBox="1"/>
          <p:nvPr/>
        </p:nvSpPr>
        <p:spPr>
          <a:xfrm>
            <a:off x="6492240" y="224028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Investigate the 2012–2014 spike and the post-2019 decline.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Validate category definitions, especially grievous injuries.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Add location, road type, time and vehicle fields.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Refresh the report when new annual records arrive.</a:t>
            </a:r>
            <a:endParaRPr lang="en-US" sz="1800" dirty="0"/>
          </a:p>
        </p:txBody>
      </p:sp>
      <p:sp>
        <p:nvSpPr>
          <p:cNvPr id="10" name="Limitation card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84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Limitation text"/>
          <p:cNvSpPr txBox="1"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LIMITATION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Year-level data cannot identify hotspots, causes or time-of-day patterns.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clearer view of accident trends through data analytics.</a:t>
            </a:r>
            <a:endParaRPr lang="en-US" sz="1400" dirty="0"/>
          </a:p>
        </p:txBody>
      </p:sp>
      <p:sp>
        <p:nvSpPr>
          <p:cNvPr id="4" name="Summary card"/>
          <p:cNvSpPr/>
          <p:nvPr/>
        </p:nvSpPr>
        <p:spPr>
          <a:xfrm>
            <a:off x="548640" y="1737360"/>
            <a:ext cx="11091672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ummary text"/>
          <p:cNvSpPr txBox="1"/>
          <p:nvPr/>
        </p:nvSpPr>
        <p:spPr>
          <a:xfrm>
            <a:off x="868680" y="18745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Python checks showed the data passes the basic quality tests (with a few items to verify), the EDA surfaced a 2012–2019 high plateau and a sharp post-2019 drop, and Power BI turns these findings into an interactive report.</a:t>
            </a:r>
            <a:endParaRPr lang="en-US" sz="2000" dirty="0"/>
          </a:p>
        </p:txBody>
      </p:sp>
      <p:sp>
        <p:nvSpPr>
          <p:cNvPr id="6" name="Closing card 1"/>
          <p:cNvSpPr/>
          <p:nvPr/>
        </p:nvSpPr>
        <p:spPr>
          <a:xfrm>
            <a:off x="548640" y="3840480"/>
            <a:ext cx="3593592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losing text 1"/>
          <p:cNvSpPr txBox="1"/>
          <p:nvPr/>
        </p:nvSpPr>
        <p:spPr>
          <a:xfrm>
            <a:off x="777240" y="3931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ANALYTICS TOOLS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Python + Power BI</a:t>
            </a:r>
            <a:endParaRPr lang="en-US" sz="1100" dirty="0"/>
          </a:p>
        </p:txBody>
      </p:sp>
      <p:sp>
        <p:nvSpPr>
          <p:cNvPr id="8" name="Closing card 2"/>
          <p:cNvSpPr/>
          <p:nvPr/>
        </p:nvSpPr>
        <p:spPr>
          <a:xfrm>
            <a:off x="4297680" y="3840480"/>
            <a:ext cx="3593592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Closing text 2"/>
          <p:cNvSpPr txBox="1"/>
          <p:nvPr/>
        </p:nvSpPr>
        <p:spPr>
          <a:xfrm>
            <a:off x="4526280" y="3931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ANALYSIS FOCUS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Year-wise trends and severity</a:t>
            </a:r>
            <a:endParaRPr lang="en-US" sz="1100" dirty="0"/>
          </a:p>
        </p:txBody>
      </p:sp>
      <p:sp>
        <p:nvSpPr>
          <p:cNvPr id="10" name="Closing card 3"/>
          <p:cNvSpPr/>
          <p:nvPr/>
        </p:nvSpPr>
        <p:spPr>
          <a:xfrm>
            <a:off x="8046720" y="3840480"/>
            <a:ext cx="3593592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Closing text 3"/>
          <p:cNvSpPr txBox="1"/>
          <p:nvPr/>
        </p:nvSpPr>
        <p:spPr>
          <a:xfrm>
            <a:off x="8275320" y="3931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FUTURE SCOPE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Location, time and cause data</a:t>
            </a:r>
            <a:endParaRPr lang="en-US" sz="1100" dirty="0"/>
          </a:p>
        </p:txBody>
      </p:sp>
      <p:sp>
        <p:nvSpPr>
          <p:cNvPr id="12" name="Thank you"/>
          <p:cNvSpPr txBox="1"/>
          <p:nvPr/>
        </p:nvSpPr>
        <p:spPr>
          <a:xfrm>
            <a:off x="54864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Thank you  •  Questions?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ffic Night">
  <a:themeElements>
    <a:clrScheme name="Traffic Night">
      <a:dk1>
        <a:srgbClr val="0B1626"/>
      </a:dk1>
      <a:lt1>
        <a:srgbClr val="F1F5F9"/>
      </a:lt1>
      <a:dk2>
        <a:srgbClr val="13233A"/>
      </a:dk2>
      <a:lt2>
        <a:srgbClr val="94A3B8"/>
      </a:lt2>
      <a:accent1>
        <a:srgbClr val="2DD4BF"/>
      </a:accent1>
      <a:accent2>
        <a:srgbClr val="F59E0B"/>
      </a:accent2>
      <a:accent3>
        <a:srgbClr val="EF4444"/>
      </a:accent3>
      <a:accent4>
        <a:srgbClr val="3B82F6"/>
      </a:accent4>
      <a:accent5>
        <a:srgbClr val="A78BFA"/>
      </a:accent5>
      <a:accent6>
        <a:srgbClr val="34D399"/>
      </a:accent6>
      <a:hlink>
        <a:srgbClr val="2DD4BF"/>
      </a:hlink>
      <a:folHlink>
        <a:srgbClr val="94A3B8"/>
      </a:folHlink>
    </a:clrScheme>
    <a:fontScheme name="Traffic N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Accident Analysis (1998-2025)</dc:title>
  <dc:subject>PptxGenJS Presentation</dc:subject>
  <dc:creator>Kannadasan K</dc:creator>
  <cp:lastModifiedBy>Kannadasan K</cp:lastModifiedBy>
  <cp:revision>1</cp:revision>
  <dcterms:created xsi:type="dcterms:W3CDTF">2026-10-22T09:20:00Z</dcterms:created>
  <dcterms:modified xsi:type="dcterms:W3CDTF">2026-10-22T09:20:00Z</dcterms:modified>
</cp:coreProperties>
</file>